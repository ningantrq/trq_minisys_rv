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14"/>
  </p:notesMasterIdLst>
  <p:sldIdLst>
    <p:sldId id="315" r:id="rId3"/>
    <p:sldId id="325" r:id="rId4"/>
    <p:sldId id="327" r:id="rId5"/>
    <p:sldId id="328" r:id="rId6"/>
    <p:sldId id="330" r:id="rId7"/>
    <p:sldId id="331" r:id="rId8"/>
    <p:sldId id="332" r:id="rId9"/>
    <p:sldId id="333" r:id="rId10"/>
    <p:sldId id="335" r:id="rId11"/>
    <p:sldId id="336" r:id="rId12"/>
    <p:sldId id="33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苹方-简" panose="020B0400000000000000" charset="-122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苹方-简" panose="020B0400000000000000" charset="-122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苹方-简" panose="020B0400000000000000" charset="-122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苹方-简" panose="020B0400000000000000" charset="-122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苹方-简" panose="020B0400000000000000" charset="-122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苹方-简" panose="020B0400000000000000" charset="-122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苹方-简" panose="020B0400000000000000" charset="-122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苹方-简" panose="020B0400000000000000" charset="-122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苹方-简" panose="020B0400000000000000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9292"/>
    <a:srgbClr val="2E75B6"/>
    <a:srgbClr val="1B3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7" name="Shape 1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苹方-简" panose="020B0400000000000000" charset="-122"/>
      </a:defRPr>
    </a:lvl1pPr>
    <a:lvl2pPr indent="228600" latinLnBrk="0">
      <a:defRPr sz="1200">
        <a:latin typeface="+mj-lt"/>
        <a:ea typeface="+mj-ea"/>
        <a:cs typeface="+mj-cs"/>
        <a:sym typeface="苹方-简" panose="020B0400000000000000" charset="-122"/>
      </a:defRPr>
    </a:lvl2pPr>
    <a:lvl3pPr indent="457200" latinLnBrk="0">
      <a:defRPr sz="1200">
        <a:latin typeface="+mj-lt"/>
        <a:ea typeface="+mj-ea"/>
        <a:cs typeface="+mj-cs"/>
        <a:sym typeface="苹方-简" panose="020B0400000000000000" charset="-122"/>
      </a:defRPr>
    </a:lvl3pPr>
    <a:lvl4pPr indent="685800" latinLnBrk="0">
      <a:defRPr sz="1200">
        <a:latin typeface="+mj-lt"/>
        <a:ea typeface="+mj-ea"/>
        <a:cs typeface="+mj-cs"/>
        <a:sym typeface="苹方-简" panose="020B0400000000000000" charset="-122"/>
      </a:defRPr>
    </a:lvl4pPr>
    <a:lvl5pPr indent="914400" latinLnBrk="0">
      <a:defRPr sz="1200">
        <a:latin typeface="+mj-lt"/>
        <a:ea typeface="+mj-ea"/>
        <a:cs typeface="+mj-cs"/>
        <a:sym typeface="苹方-简" panose="020B0400000000000000" charset="-122"/>
      </a:defRPr>
    </a:lvl5pPr>
    <a:lvl6pPr indent="1143000" latinLnBrk="0">
      <a:defRPr sz="1200">
        <a:latin typeface="+mj-lt"/>
        <a:ea typeface="+mj-ea"/>
        <a:cs typeface="+mj-cs"/>
        <a:sym typeface="苹方-简" panose="020B0400000000000000" charset="-122"/>
      </a:defRPr>
    </a:lvl6pPr>
    <a:lvl7pPr indent="1371600" latinLnBrk="0">
      <a:defRPr sz="1200">
        <a:latin typeface="+mj-lt"/>
        <a:ea typeface="+mj-ea"/>
        <a:cs typeface="+mj-cs"/>
        <a:sym typeface="苹方-简" panose="020B0400000000000000" charset="-122"/>
      </a:defRPr>
    </a:lvl7pPr>
    <a:lvl8pPr indent="1600200" latinLnBrk="0">
      <a:defRPr sz="1200">
        <a:latin typeface="+mj-lt"/>
        <a:ea typeface="+mj-ea"/>
        <a:cs typeface="+mj-cs"/>
        <a:sym typeface="苹方-简" panose="020B0400000000000000" charset="-122"/>
      </a:defRPr>
    </a:lvl8pPr>
    <a:lvl9pPr indent="1828800" latinLnBrk="0">
      <a:defRPr sz="1200">
        <a:latin typeface="+mj-lt"/>
        <a:ea typeface="+mj-ea"/>
        <a:cs typeface="+mj-cs"/>
        <a:sym typeface="苹方-简" panose="020B0400000000000000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6828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F968D-ECAD-C8C7-A93D-0265CC20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A66F98-746F-EB87-C6D0-AFE3E6A01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8F4594-C66C-AB83-2E29-612A8740F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737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03999"/>
            <a:ext cx="5342401" cy="4140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03999"/>
            <a:ext cx="5342402" cy="4140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877570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1920" b="1" spc="192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585" indent="-260985">
              <a:buFontTx/>
              <a:defRPr sz="1600"/>
            </a:lvl4pPr>
            <a:lvl5pPr marL="2089785" indent="-260985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397599"/>
            <a:ext cx="9799202" cy="11052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91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98799" y="3560400"/>
            <a:ext cx="9799202" cy="5040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395" indent="-391795" algn="ctr">
              <a:lnSpc>
                <a:spcPct val="110000"/>
              </a:lnSpc>
              <a:buFontTx/>
              <a:defRPr sz="2400" spc="200"/>
            </a:lvl4pPr>
            <a:lvl5pPr marL="2220595" indent="-39179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0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9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1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7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3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03999"/>
            <a:ext cx="5342401" cy="4140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03999"/>
            <a:ext cx="5342402" cy="4140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877570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1920" b="1" spc="192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3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4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1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585" indent="-260985">
              <a:buFontTx/>
              <a:defRPr sz="1600"/>
            </a:lvl4pPr>
            <a:lvl5pPr marL="2089785" indent="-260985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2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6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bg>
      <p:bgPr>
        <a:solidFill>
          <a:srgbClr val="FF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397599"/>
            <a:ext cx="9799202" cy="11052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79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98799" y="3560400"/>
            <a:ext cx="9799202" cy="5040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395" indent="-391795" algn="ctr">
              <a:lnSpc>
                <a:spcPct val="110000"/>
              </a:lnSpc>
              <a:buFontTx/>
              <a:defRPr sz="2400" spc="200"/>
            </a:lvl4pPr>
            <a:lvl5pPr marL="2220595" indent="-39179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08399" y="608399"/>
            <a:ext cx="10969202" cy="705601"/>
          </a:xfrm>
          <a:prstGeom prst="rect">
            <a:avLst/>
          </a:prstGeom>
          <a:ln w="12700">
            <a:miter lim="400000"/>
          </a:ln>
        </p:spPr>
        <p:txBody>
          <a:bodyPr lIns="46799" tIns="46799" rIns="46799" bIns="4679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1490400"/>
            <a:ext cx="10969202" cy="4759200"/>
          </a:xfrm>
          <a:prstGeom prst="rect">
            <a:avLst/>
          </a:prstGeom>
          <a:ln w="12700">
            <a:miter lim="400000"/>
          </a:ln>
        </p:spPr>
        <p:txBody>
          <a:bodyPr lIns="46799" tIns="46799" rIns="46799" bIns="4679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332197" y="6350879"/>
            <a:ext cx="245404" cy="243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normAutofit/>
          </a:bodyPr>
          <a:lstStyle>
            <a:lvl1pPr algn="r">
              <a:defRPr sz="10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300" baseline="0">
          <a:solidFill>
            <a:srgbClr val="262626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300" baseline="0">
          <a:solidFill>
            <a:srgbClr val="262626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300" baseline="0">
          <a:solidFill>
            <a:srgbClr val="262626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300" baseline="0">
          <a:solidFill>
            <a:srgbClr val="262626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300" baseline="0">
          <a:solidFill>
            <a:srgbClr val="262626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300" baseline="0">
          <a:solidFill>
            <a:srgbClr val="262626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300" baseline="0">
          <a:solidFill>
            <a:srgbClr val="262626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300" baseline="0">
          <a:solidFill>
            <a:srgbClr val="262626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0" i="0" u="none" strike="noStrike" cap="none" spc="300" baseline="0">
          <a:solidFill>
            <a:srgbClr val="262626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●"/>
        <a:defRPr sz="1800" b="0" i="0" u="none" strike="noStrike" cap="none" spc="150" baseline="0">
          <a:solidFill>
            <a:srgbClr val="595959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●"/>
        <a:defRPr sz="1800" b="0" i="0" u="none" strike="noStrike" cap="none" spc="150" baseline="0">
          <a:solidFill>
            <a:srgbClr val="595959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●"/>
        <a:defRPr sz="1800" b="0" i="0" u="none" strike="noStrike" cap="none" spc="150" baseline="0">
          <a:solidFill>
            <a:srgbClr val="595959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3pPr>
      <a:lvl4pPr marL="1665605" marR="0" indent="-29400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1800" b="0" i="0" u="none" strike="noStrike" cap="none" spc="150" baseline="0">
          <a:solidFill>
            <a:srgbClr val="595959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4pPr>
      <a:lvl5pPr marL="2122805" marR="0" indent="-29400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1800" b="0" i="0" u="none" strike="noStrike" cap="none" spc="150" baseline="0">
          <a:solidFill>
            <a:srgbClr val="595959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1800" b="0" i="0" u="none" strike="noStrike" cap="none" spc="150" baseline="0">
          <a:solidFill>
            <a:srgbClr val="595959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1800" b="0" i="0" u="none" strike="noStrike" cap="none" spc="150" baseline="0">
          <a:solidFill>
            <a:srgbClr val="595959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1800" b="0" i="0" u="none" strike="noStrike" cap="none" spc="150" baseline="0">
          <a:solidFill>
            <a:srgbClr val="595959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90204"/>
        <a:buChar char="•"/>
        <a:defRPr sz="1800" b="0" i="0" u="none" strike="noStrike" cap="none" spc="150" baseline="0">
          <a:solidFill>
            <a:srgbClr val="595959"/>
          </a:solidFill>
          <a:uFillTx/>
          <a:latin typeface="+mj-lt"/>
          <a:ea typeface="+mj-ea"/>
          <a:cs typeface="+mj-cs"/>
          <a:sym typeface="苹方-简" panose="020B0400000000000000" charset="-122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苹方-简" panose="020B0400000000000000" charset="-122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苹方-简" panose="020B0400000000000000" charset="-122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苹方-简" panose="020B0400000000000000" charset="-122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苹方-简" panose="020B0400000000000000" charset="-122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苹方-简" panose="020B0400000000000000" charset="-122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苹方-简" panose="020B0400000000000000" charset="-122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苹方-简" panose="020B0400000000000000" charset="-122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苹方-简" panose="020B0400000000000000" charset="-122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苹方-简" panose="020B0400000000000000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文本框 3"/>
          <p:cNvSpPr txBox="1"/>
          <p:nvPr/>
        </p:nvSpPr>
        <p:spPr>
          <a:xfrm>
            <a:off x="621171" y="40491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/>
              <a:t>IF</a:t>
            </a:r>
          </a:p>
        </p:txBody>
      </p:sp>
      <p:sp>
        <p:nvSpPr>
          <p:cNvPr id="2" name="矩形 1"/>
          <p:cNvSpPr/>
          <p:nvPr/>
        </p:nvSpPr>
        <p:spPr>
          <a:xfrm>
            <a:off x="5481955" y="968375"/>
            <a:ext cx="902335" cy="4891405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4617085" y="116205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5" name="文本框 4"/>
          <p:cNvSpPr txBox="1"/>
          <p:nvPr/>
        </p:nvSpPr>
        <p:spPr>
          <a:xfrm>
            <a:off x="2520950" y="892810"/>
            <a:ext cx="1652905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分支目标地址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 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PingFang SC Semibold" panose="020B0400000000000000" charset="-122"/>
                <a:cs typeface="Courier New Regular" panose="02070409020205090404" charset="0"/>
                <a:sym typeface="苹方-简" panose="020B0400000000000000" charset="-122"/>
              </a:rPr>
              <a:t>pc_branch_i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4617085" y="222377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7" name="文本框 6"/>
          <p:cNvSpPr txBox="1"/>
          <p:nvPr/>
        </p:nvSpPr>
        <p:spPr>
          <a:xfrm>
            <a:off x="1991360" y="1863090"/>
            <a:ext cx="2470150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是否发生分支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pc_take_branch_i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4617085" y="328549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9" name="文本框 8"/>
          <p:cNvSpPr txBox="1"/>
          <p:nvPr/>
        </p:nvSpPr>
        <p:spPr>
          <a:xfrm>
            <a:off x="2077085" y="2911475"/>
            <a:ext cx="254000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允许取下一条指令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PipelineCtrl</a:t>
            </a:r>
            <a:b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enable_i</a:t>
            </a:r>
          </a:p>
        </p:txBody>
      </p:sp>
      <p:cxnSp>
        <p:nvCxnSpPr>
          <p:cNvPr id="10" name="直接箭头连接符 9"/>
          <p:cNvCxnSpPr/>
          <p:nvPr/>
        </p:nvCxnSpPr>
        <p:spPr>
          <a:xfrm>
            <a:off x="4617085" y="441388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1" name="文本框 10"/>
          <p:cNvSpPr txBox="1"/>
          <p:nvPr/>
        </p:nvSpPr>
        <p:spPr>
          <a:xfrm>
            <a:off x="2077085" y="3956050"/>
            <a:ext cx="2667635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从内存读到的指令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mem_data_i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617085" y="551751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3" name="文本框 12"/>
          <p:cNvSpPr txBox="1"/>
          <p:nvPr/>
        </p:nvSpPr>
        <p:spPr>
          <a:xfrm>
            <a:off x="2711450" y="5096510"/>
            <a:ext cx="168402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内存操作完成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mem_done_i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383655" y="118173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7" name="文本框 16"/>
          <p:cNvSpPr txBox="1"/>
          <p:nvPr/>
        </p:nvSpPr>
        <p:spPr>
          <a:xfrm>
            <a:off x="7470775" y="774700"/>
            <a:ext cx="137922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当前指令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PC</a:t>
            </a:r>
            <a:b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n-lt"/>
                <a:ea typeface="+mj-ea"/>
                <a:cs typeface="+mn-lt"/>
                <a:sym typeface="苹方-简" panose="020B0400000000000000" charset="-122"/>
              </a:rPr>
              <a:t>to 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pc_o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6383655" y="225171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9" name="文本框 18"/>
          <p:cNvSpPr txBox="1"/>
          <p:nvPr/>
        </p:nvSpPr>
        <p:spPr>
          <a:xfrm>
            <a:off x="7292975" y="1864360"/>
            <a:ext cx="186944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取到的指令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ID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inst_o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6395720" y="329946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1" name="文本框 20"/>
          <p:cNvSpPr txBox="1"/>
          <p:nvPr/>
        </p:nvSpPr>
        <p:spPr>
          <a:xfrm>
            <a:off x="7320280" y="2954020"/>
            <a:ext cx="186944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要读取内存的地址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mem_addr_o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6403975" y="445960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3" name="文本框 22"/>
          <p:cNvSpPr txBox="1"/>
          <p:nvPr/>
        </p:nvSpPr>
        <p:spPr>
          <a:xfrm>
            <a:off x="7392035" y="4130040"/>
            <a:ext cx="186944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内存使能信号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mem_enable_o</a:t>
            </a: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6395720" y="555117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5" name="文本框 24"/>
          <p:cNvSpPr txBox="1"/>
          <p:nvPr/>
        </p:nvSpPr>
        <p:spPr>
          <a:xfrm>
            <a:off x="7355205" y="5306060"/>
            <a:ext cx="1869440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暂停信号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stall_o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519420" y="3202305"/>
            <a:ext cx="891540" cy="322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IF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文本框 3"/>
          <p:cNvSpPr txBox="1"/>
          <p:nvPr/>
        </p:nvSpPr>
        <p:spPr>
          <a:xfrm>
            <a:off x="621171" y="40491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/>
              <a:t>ID</a:t>
            </a:r>
          </a:p>
        </p:txBody>
      </p:sp>
      <p:sp>
        <p:nvSpPr>
          <p:cNvPr id="2" name="矩形 1"/>
          <p:cNvSpPr/>
          <p:nvPr/>
        </p:nvSpPr>
        <p:spPr>
          <a:xfrm>
            <a:off x="3575685" y="454025"/>
            <a:ext cx="902335" cy="5978525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2693035" y="327533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9" name="文本框 8"/>
          <p:cNvSpPr txBox="1"/>
          <p:nvPr/>
        </p:nvSpPr>
        <p:spPr>
          <a:xfrm>
            <a:off x="1514475" y="2780665"/>
            <a:ext cx="1391285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指令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IF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inst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_i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4477385" y="71691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7" name="文本框 16"/>
          <p:cNvSpPr txBox="1"/>
          <p:nvPr/>
        </p:nvSpPr>
        <p:spPr>
          <a:xfrm>
            <a:off x="4916805" y="309880"/>
            <a:ext cx="4206875" cy="6457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j-ea"/>
                <a:cs typeface="+mn-lt"/>
                <a:sym typeface="苹方-简" panose="020B0400000000000000" charset="-122"/>
              </a:rPr>
              <a:t>寄存器地址</a:t>
            </a:r>
            <a:b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n-lt"/>
                <a:ea typeface="+mj-ea"/>
                <a:cs typeface="+mn-lt"/>
                <a:sym typeface="苹方-简" panose="020B0400000000000000" charset="-122"/>
              </a:rPr>
            </a:b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n-lt"/>
                <a:ea typeface="+mj-ea"/>
                <a:cs typeface="+mn-lt"/>
                <a:sym typeface="苹方-简" panose="020B0400000000000000" charset="-122"/>
              </a:rPr>
              <a:t>to </a:t>
            </a:r>
            <a:endParaRPr kumimoji="0" lang="en-US" altLang="zh-C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[4:0]rs1_o, rs2_o, rd_o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461510" y="146177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9" name="文本框 18"/>
          <p:cNvSpPr txBox="1"/>
          <p:nvPr/>
        </p:nvSpPr>
        <p:spPr>
          <a:xfrm>
            <a:off x="4916805" y="1029335"/>
            <a:ext cx="7319010" cy="7073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立即数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b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[31:0]imm_i_o,  imm_s_o, imm_b_o, imm_u_o, imm_j_o, shamt_o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  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489450" y="222504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1" name="文本框 20"/>
          <p:cNvSpPr txBox="1"/>
          <p:nvPr/>
        </p:nvSpPr>
        <p:spPr>
          <a:xfrm>
            <a:off x="5364480" y="1873250"/>
            <a:ext cx="1869440" cy="6457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指令有效性</a:t>
            </a:r>
            <a:b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b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invalid_o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461510" y="297497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3" name="文本框 22"/>
          <p:cNvSpPr txBox="1"/>
          <p:nvPr/>
        </p:nvSpPr>
        <p:spPr>
          <a:xfrm>
            <a:off x="5288280" y="2655570"/>
            <a:ext cx="1869440" cy="6457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需要访存单元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b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lsu_o</a:t>
            </a: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4472940" y="376555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6" name="文本框 25"/>
          <p:cNvSpPr txBox="1"/>
          <p:nvPr/>
        </p:nvSpPr>
        <p:spPr>
          <a:xfrm>
            <a:off x="3613150" y="3025775"/>
            <a:ext cx="891540" cy="322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ID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501515" y="455803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2" name="文本框 31"/>
          <p:cNvSpPr txBox="1"/>
          <p:nvPr/>
        </p:nvSpPr>
        <p:spPr>
          <a:xfrm>
            <a:off x="4900295" y="3328035"/>
            <a:ext cx="4142740" cy="6457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内存读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写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b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mem_read_o, </a:t>
            </a:r>
            <a:r>
              <a:rPr lang="en-US" altLang="zh-CN" sz="1400">
                <a:latin typeface="Courier New Regular" panose="02070409020205090404" charset="0"/>
                <a:cs typeface="Courier New Regular" panose="02070409020205090404" charset="0"/>
                <a:sym typeface="苹方-简" panose="020B0400000000000000" charset="-122"/>
              </a:rPr>
              <a:t>mem_write_o</a:t>
            </a:r>
            <a:endParaRPr kumimoji="0" lang="en-US" altLang="zh-C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ourier New Regular" panose="02070409020205090404" charset="0"/>
              <a:ea typeface="+mj-ea"/>
              <a:cs typeface="Courier New Regular" panose="02070409020205090404" charset="0"/>
              <a:sym typeface="苹方-简" panose="020B0400000000000000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292725" y="4220210"/>
            <a:ext cx="1869440" cy="6457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乘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除法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b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mul_o, div_o</a:t>
            </a: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4495800" y="535051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5" name="文本框 34"/>
          <p:cNvSpPr txBox="1"/>
          <p:nvPr/>
        </p:nvSpPr>
        <p:spPr>
          <a:xfrm>
            <a:off x="5364480" y="5012055"/>
            <a:ext cx="1869440" cy="6457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CSR/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特权指令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b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csr_o</a:t>
            </a: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4474845" y="614299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7" name="文本框 36"/>
          <p:cNvSpPr txBox="1"/>
          <p:nvPr/>
        </p:nvSpPr>
        <p:spPr>
          <a:xfrm>
            <a:off x="5364480" y="5876290"/>
            <a:ext cx="1869440" cy="6457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写回寄存器有效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b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rd_valid_o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文本框 3"/>
          <p:cNvSpPr txBox="1"/>
          <p:nvPr/>
        </p:nvSpPr>
        <p:spPr>
          <a:xfrm>
            <a:off x="551956" y="32236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/>
              <a:t>EX</a:t>
            </a:r>
          </a:p>
        </p:txBody>
      </p:sp>
      <p:sp>
        <p:nvSpPr>
          <p:cNvPr id="2" name="矩形 1"/>
          <p:cNvSpPr/>
          <p:nvPr/>
        </p:nvSpPr>
        <p:spPr>
          <a:xfrm>
            <a:off x="5816600" y="882650"/>
            <a:ext cx="902335" cy="3979545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4951730" y="107632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5" name="文本框 4"/>
          <p:cNvSpPr txBox="1"/>
          <p:nvPr/>
        </p:nvSpPr>
        <p:spPr>
          <a:xfrm>
            <a:off x="2855595" y="807085"/>
            <a:ext cx="1652905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当前指令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PC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  <a:sym typeface="苹方-简" panose="020B0400000000000000" charset="-122"/>
              </a:rPr>
              <a:t>[31:0]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PingFang SC Semibold" panose="020B0400000000000000" charset="-122"/>
                <a:cs typeface="Courier New Regular" panose="02070409020205090404" charset="0"/>
                <a:sym typeface="苹方-简" panose="020B0400000000000000" charset="-122"/>
              </a:rPr>
              <a:t>pc_i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4951730" y="213804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7" name="文本框 6"/>
          <p:cNvSpPr txBox="1"/>
          <p:nvPr/>
        </p:nvSpPr>
        <p:spPr>
          <a:xfrm>
            <a:off x="2326005" y="1777365"/>
            <a:ext cx="2470150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当前指令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</a:b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  <a:sym typeface="苹方-简" panose="020B0400000000000000" charset="-122"/>
              </a:rPr>
              <a:t>[31:0]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inst_i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4951730" y="319976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9" name="文本框 8"/>
          <p:cNvSpPr txBox="1"/>
          <p:nvPr/>
        </p:nvSpPr>
        <p:spPr>
          <a:xfrm>
            <a:off x="-26035" y="2825750"/>
            <a:ext cx="4977765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源寄存器数据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</a:t>
            </a:r>
            <a:b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  <a:sym typeface="苹方-简" panose="020B0400000000000000" charset="-122"/>
              </a:rPr>
              <a:t>[31:0]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rs1_data_i, rs2_data_i</a:t>
            </a:r>
          </a:p>
        </p:txBody>
      </p:sp>
      <p:cxnSp>
        <p:nvCxnSpPr>
          <p:cNvPr id="10" name="直接箭头连接符 9"/>
          <p:cNvCxnSpPr/>
          <p:nvPr/>
        </p:nvCxnSpPr>
        <p:spPr>
          <a:xfrm>
            <a:off x="4951730" y="445198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16" name="直接箭头连接符 15"/>
          <p:cNvCxnSpPr/>
          <p:nvPr/>
        </p:nvCxnSpPr>
        <p:spPr>
          <a:xfrm>
            <a:off x="6736080" y="167830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7" name="文本框 16"/>
          <p:cNvSpPr txBox="1"/>
          <p:nvPr/>
        </p:nvSpPr>
        <p:spPr>
          <a:xfrm>
            <a:off x="7823200" y="1271270"/>
            <a:ext cx="1654175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分支目标地址</a:t>
            </a:r>
            <a:b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n-lt"/>
                <a:ea typeface="+mj-ea"/>
                <a:cs typeface="+mn-lt"/>
                <a:sym typeface="苹方-简" panose="020B0400000000000000" charset="-122"/>
              </a:rPr>
              <a:t>to PipelineCtrl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pc_branch_o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6736080" y="274828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9" name="文本框 18"/>
          <p:cNvSpPr txBox="1"/>
          <p:nvPr/>
        </p:nvSpPr>
        <p:spPr>
          <a:xfrm>
            <a:off x="7645400" y="2360930"/>
            <a:ext cx="272669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是否跳转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PipelineCtrl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pc_take_branch_o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6748145" y="379603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1" name="文本框 20"/>
          <p:cNvSpPr txBox="1"/>
          <p:nvPr/>
        </p:nvSpPr>
        <p:spPr>
          <a:xfrm>
            <a:off x="7672705" y="3450590"/>
            <a:ext cx="186944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ALU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运算结果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MEM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alu_result_o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854065" y="3116580"/>
            <a:ext cx="891540" cy="322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EX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2890" y="4004945"/>
            <a:ext cx="4782820" cy="110744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立即数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ID </a:t>
            </a:r>
            <a:br>
              <a:rPr kumimoji="0" lang="zh-CN" altLang="en-US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[31:0]imm_i_o,  imm_s_o, imm_b_o, imm_u_o, imm_j_o, shamt_o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  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文本框 3"/>
          <p:cNvSpPr txBox="1"/>
          <p:nvPr/>
        </p:nvSpPr>
        <p:spPr>
          <a:xfrm>
            <a:off x="551956" y="32236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/>
              <a:t>MEM</a:t>
            </a:r>
          </a:p>
        </p:txBody>
      </p:sp>
      <p:sp>
        <p:nvSpPr>
          <p:cNvPr id="11" name="矩形 10"/>
          <p:cNvSpPr/>
          <p:nvPr/>
        </p:nvSpPr>
        <p:spPr>
          <a:xfrm>
            <a:off x="7635875" y="398780"/>
            <a:ext cx="902335" cy="600964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6771005" y="59245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3" name="文本框 12"/>
          <p:cNvSpPr txBox="1"/>
          <p:nvPr/>
        </p:nvSpPr>
        <p:spPr>
          <a:xfrm>
            <a:off x="4674870" y="323215"/>
            <a:ext cx="1652905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当前指令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 </a:t>
            </a: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  <a:sym typeface="苹方-简" panose="020B0400000000000000" charset="-122"/>
              </a:rPr>
              <a:t>[31:0]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PingFang SC Semibold" panose="020B0400000000000000" charset="-122"/>
                <a:cs typeface="Courier New Regular" panose="02070409020205090404" charset="0"/>
                <a:sym typeface="苹方-简" panose="020B0400000000000000" charset="-122"/>
              </a:rPr>
              <a:t>inst_i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6771005" y="165417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5" name="文本框 14"/>
          <p:cNvSpPr txBox="1"/>
          <p:nvPr/>
        </p:nvSpPr>
        <p:spPr>
          <a:xfrm>
            <a:off x="4145280" y="1293495"/>
            <a:ext cx="247015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内存地址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ea typeface="+mj-ea"/>
                <a:sym typeface="苹方-简" panose="020B0400000000000000" charset="-122"/>
              </a:rPr>
              <a:t>from EX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</a:b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  <a:sym typeface="苹方-简" panose="020B0400000000000000" charset="-122"/>
              </a:rPr>
              <a:t>[31:0]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addr_i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6771005" y="271589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3" name="文本框 22"/>
          <p:cNvSpPr txBox="1"/>
          <p:nvPr/>
        </p:nvSpPr>
        <p:spPr>
          <a:xfrm>
            <a:off x="4231005" y="2341880"/>
            <a:ext cx="254000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LSU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使能信号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PipelineCtrl</a:t>
            </a:r>
            <a:b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enable_i</a:t>
            </a: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6771005" y="384429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5" name="文本框 24"/>
          <p:cNvSpPr txBox="1"/>
          <p:nvPr/>
        </p:nvSpPr>
        <p:spPr>
          <a:xfrm>
            <a:off x="4231005" y="3386455"/>
            <a:ext cx="2667635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要写入的数据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[31:0]data_wr_i</a:t>
            </a: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6771005" y="494792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8" name="文本框 27"/>
          <p:cNvSpPr txBox="1"/>
          <p:nvPr/>
        </p:nvSpPr>
        <p:spPr>
          <a:xfrm>
            <a:off x="4367530" y="4526915"/>
            <a:ext cx="218186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从内存读取的数据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mem_data_rd_i</a:t>
            </a: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8537575" y="61214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0" name="文本框 29"/>
          <p:cNvSpPr txBox="1"/>
          <p:nvPr/>
        </p:nvSpPr>
        <p:spPr>
          <a:xfrm>
            <a:off x="9352915" y="245110"/>
            <a:ext cx="2513965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Load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结果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（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扩展后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）</a:t>
            </a:r>
            <a:b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n-lt"/>
                <a:ea typeface="+mj-ea"/>
                <a:cs typeface="+mn-lt"/>
                <a:sym typeface="苹方-简" panose="020B0400000000000000" charset="-122"/>
              </a:rPr>
              <a:t>to 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[31:0]data_rd_o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8537575" y="156972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2" name="文本框 31"/>
          <p:cNvSpPr txBox="1"/>
          <p:nvPr/>
        </p:nvSpPr>
        <p:spPr>
          <a:xfrm>
            <a:off x="9038590" y="1208405"/>
            <a:ext cx="2884805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内存读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/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写请求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mem_rd_o, mem_wr_o</a:t>
            </a: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8549640" y="259270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4" name="文本框 33"/>
          <p:cNvSpPr txBox="1"/>
          <p:nvPr/>
        </p:nvSpPr>
        <p:spPr>
          <a:xfrm>
            <a:off x="9474200" y="2129155"/>
            <a:ext cx="239395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内存访问地址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[31:0]mem_addr_o</a:t>
            </a: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8533130" y="342265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6" name="文本框 35"/>
          <p:cNvSpPr txBox="1"/>
          <p:nvPr/>
        </p:nvSpPr>
        <p:spPr>
          <a:xfrm>
            <a:off x="9521190" y="3011805"/>
            <a:ext cx="186944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内存使能信号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mem_enable_o</a:t>
            </a: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8545830" y="428688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8" name="文本框 37"/>
          <p:cNvSpPr txBox="1"/>
          <p:nvPr/>
        </p:nvSpPr>
        <p:spPr>
          <a:xfrm>
            <a:off x="9485630" y="3942715"/>
            <a:ext cx="266827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写入内存的数据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苹方-简" panose="020B0400000000000000" charset="-122"/>
              </a:rPr>
              <a:t>to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  <a:sym typeface="苹方-简" panose="020B0400000000000000" charset="-122"/>
              </a:rPr>
              <a:t>[31:0]mem_data_wr_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o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673340" y="2632710"/>
            <a:ext cx="891540" cy="322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MEM</a:t>
            </a:r>
          </a:p>
        </p:txBody>
      </p:sp>
      <p:pic>
        <p:nvPicPr>
          <p:cNvPr id="40" name="Draw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55" y="922020"/>
            <a:ext cx="2884805" cy="547497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6800215" y="615950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42" name="文本框 41"/>
          <p:cNvSpPr txBox="1"/>
          <p:nvPr/>
        </p:nvSpPr>
        <p:spPr>
          <a:xfrm>
            <a:off x="4439285" y="5621655"/>
            <a:ext cx="218186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内存操作完成信号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mem_done_i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9496425" y="4873625"/>
            <a:ext cx="2667635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写掩码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苹方-简" panose="020B0400000000000000" charset="-122"/>
              </a:rPr>
              <a:t>to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  <a:sym typeface="苹方-简" panose="020B0400000000000000" charset="-122"/>
              </a:rPr>
              <a:t>[31:0]mem_mask_wr_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o</a:t>
            </a: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8533130" y="522287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45" name="直接箭头连接符 44"/>
          <p:cNvCxnSpPr/>
          <p:nvPr/>
        </p:nvCxnSpPr>
        <p:spPr>
          <a:xfrm>
            <a:off x="8559800" y="604901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46" name="文本框 45"/>
          <p:cNvSpPr txBox="1"/>
          <p:nvPr/>
        </p:nvSpPr>
        <p:spPr>
          <a:xfrm>
            <a:off x="9639935" y="5861050"/>
            <a:ext cx="186944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流水线暂停信号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苹方-简" panose="020B0400000000000000" charset="-122"/>
              </a:rPr>
              <a:t>to PipelineCtrl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lang="en-US" altLang="zh-CN">
                <a:latin typeface="Courier New Regular" panose="02070409020205090404" charset="0"/>
                <a:cs typeface="Courier New Regular" panose="02070409020205090404" charset="0"/>
                <a:sym typeface="苹方-简" panose="020B0400000000000000" charset="-122"/>
              </a:rPr>
              <a:t>stall_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o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文本框 3"/>
          <p:cNvSpPr txBox="1"/>
          <p:nvPr/>
        </p:nvSpPr>
        <p:spPr>
          <a:xfrm>
            <a:off x="621171" y="40491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/>
              <a:t>IF</a:t>
            </a:r>
          </a:p>
        </p:txBody>
      </p:sp>
      <p:sp>
        <p:nvSpPr>
          <p:cNvPr id="2" name="矩形 1"/>
          <p:cNvSpPr/>
          <p:nvPr/>
        </p:nvSpPr>
        <p:spPr>
          <a:xfrm>
            <a:off x="5481955" y="968375"/>
            <a:ext cx="902335" cy="4891405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4617085" y="116205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5" name="文本框 4"/>
          <p:cNvSpPr txBox="1"/>
          <p:nvPr/>
        </p:nvSpPr>
        <p:spPr>
          <a:xfrm>
            <a:off x="2520950" y="892810"/>
            <a:ext cx="1652905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分支目标地址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 </a:t>
            </a:r>
            <a:r>
              <a:rPr kumimoji="0" lang="en-US" altLang="zh-CN" sz="18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PingFang SC Semibold" panose="020B0400000000000000" charset="-122"/>
                <a:cs typeface="Courier New Regular" panose="02070409020205090404" charset="0"/>
                <a:sym typeface="苹方-简" panose="020B0400000000000000" charset="-122"/>
              </a:rPr>
              <a:t>pc_branch_i</a:t>
            </a:r>
          </a:p>
        </p:txBody>
      </p:sp>
      <p:cxnSp>
        <p:nvCxnSpPr>
          <p:cNvPr id="6" name="直接箭头连接符 5"/>
          <p:cNvCxnSpPr/>
          <p:nvPr/>
        </p:nvCxnSpPr>
        <p:spPr>
          <a:xfrm>
            <a:off x="4617085" y="222377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7" name="文本框 6"/>
          <p:cNvSpPr txBox="1"/>
          <p:nvPr/>
        </p:nvSpPr>
        <p:spPr>
          <a:xfrm>
            <a:off x="1991360" y="1863090"/>
            <a:ext cx="2470150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是否发生分支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pc_take_branch_i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4617085" y="328549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9" name="文本框 8"/>
          <p:cNvSpPr txBox="1"/>
          <p:nvPr/>
        </p:nvSpPr>
        <p:spPr>
          <a:xfrm>
            <a:off x="2077085" y="2911475"/>
            <a:ext cx="254000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允许取下一条指令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PipelineCtrl</a:t>
            </a:r>
            <a:b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enable_i</a:t>
            </a:r>
          </a:p>
        </p:txBody>
      </p:sp>
      <p:cxnSp>
        <p:nvCxnSpPr>
          <p:cNvPr id="10" name="直接箭头连接符 9"/>
          <p:cNvCxnSpPr/>
          <p:nvPr/>
        </p:nvCxnSpPr>
        <p:spPr>
          <a:xfrm>
            <a:off x="4617085" y="441388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1" name="文本框 10"/>
          <p:cNvSpPr txBox="1"/>
          <p:nvPr/>
        </p:nvSpPr>
        <p:spPr>
          <a:xfrm>
            <a:off x="2077085" y="3956050"/>
            <a:ext cx="2667635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从内存读到的指令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mem_data_i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617085" y="551751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3" name="文本框 12"/>
          <p:cNvSpPr txBox="1"/>
          <p:nvPr/>
        </p:nvSpPr>
        <p:spPr>
          <a:xfrm>
            <a:off x="2711450" y="5096510"/>
            <a:ext cx="168402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内存操作完成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from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mem_done_i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383655" y="118173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7" name="文本框 16"/>
          <p:cNvSpPr txBox="1"/>
          <p:nvPr/>
        </p:nvSpPr>
        <p:spPr>
          <a:xfrm>
            <a:off x="7470775" y="774700"/>
            <a:ext cx="137922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当前指令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PC</a:t>
            </a:r>
            <a:b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n-lt"/>
                <a:ea typeface="+mj-ea"/>
                <a:cs typeface="+mn-lt"/>
                <a:sym typeface="苹方-简" panose="020B0400000000000000" charset="-122"/>
              </a:rPr>
              <a:t>to 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pc_o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6383655" y="225171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9" name="文本框 18"/>
          <p:cNvSpPr txBox="1"/>
          <p:nvPr/>
        </p:nvSpPr>
        <p:spPr>
          <a:xfrm>
            <a:off x="7292975" y="1864360"/>
            <a:ext cx="186944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取到的指令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ID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inst_o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6395720" y="329946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1" name="文本框 20"/>
          <p:cNvSpPr txBox="1"/>
          <p:nvPr/>
        </p:nvSpPr>
        <p:spPr>
          <a:xfrm>
            <a:off x="7320280" y="2954020"/>
            <a:ext cx="186944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要读取内存的地址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mem_addr_o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6403975" y="4459605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3" name="文本框 22"/>
          <p:cNvSpPr txBox="1"/>
          <p:nvPr/>
        </p:nvSpPr>
        <p:spPr>
          <a:xfrm>
            <a:off x="7392035" y="4130040"/>
            <a:ext cx="1869440" cy="830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内存使能信号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to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内存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mem_enable_o</a:t>
            </a: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6395720" y="5551170"/>
            <a:ext cx="864870" cy="158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5" name="文本框 24"/>
          <p:cNvSpPr txBox="1"/>
          <p:nvPr/>
        </p:nvSpPr>
        <p:spPr>
          <a:xfrm>
            <a:off x="7355205" y="5306060"/>
            <a:ext cx="1869440" cy="5537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暂停信号</a:t>
            </a:r>
            <a:b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urier New Regular" panose="02070409020205090404" charset="0"/>
                <a:ea typeface="+mj-ea"/>
                <a:cs typeface="Courier New Regular" panose="02070409020205090404" charset="0"/>
                <a:sym typeface="苹方-简" panose="020B0400000000000000" charset="-122"/>
              </a:rPr>
              <a:t>stall_o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519420" y="3202305"/>
            <a:ext cx="891540" cy="3225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苹方-简" panose="020B0400000000000000" charset="-122"/>
              </a:rPr>
              <a:t>IF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E6E1-EEF8-1562-3B8B-C06BB7F5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文本框 3">
            <a:extLst>
              <a:ext uri="{FF2B5EF4-FFF2-40B4-BE49-F238E27FC236}">
                <a16:creationId xmlns:a16="http://schemas.microsoft.com/office/drawing/2014/main" id="{ED4984E3-E892-A137-239C-776C8CD8EE9A}"/>
              </a:ext>
            </a:extLst>
          </p:cNvPr>
          <p:cNvSpPr txBox="1"/>
          <p:nvPr/>
        </p:nvSpPr>
        <p:spPr>
          <a:xfrm>
            <a:off x="621171" y="40491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 altLang="zh-CN" dirty="0"/>
              <a:t>Core Test – </a:t>
            </a:r>
            <a:r>
              <a:rPr lang="zh-CN" altLang="en-US" dirty="0"/>
              <a:t>算术指令</a:t>
            </a:r>
            <a:endParaRPr lang="en-US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90D8F547-7EEB-DA59-449B-86C36466A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81"/>
          <a:stretch>
            <a:fillRect/>
          </a:stretch>
        </p:blipFill>
        <p:spPr>
          <a:xfrm>
            <a:off x="576721" y="1463463"/>
            <a:ext cx="11394434" cy="3663502"/>
          </a:xfrm>
          <a:prstGeom prst="rect">
            <a:avLst/>
          </a:prstGeom>
        </p:spPr>
      </p:pic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51FD2A4-5438-1276-2010-7F48A356FC3F}"/>
              </a:ext>
            </a:extLst>
          </p:cNvPr>
          <p:cNvCxnSpPr>
            <a:cxnSpLocks/>
          </p:cNvCxnSpPr>
          <p:nvPr/>
        </p:nvCxnSpPr>
        <p:spPr>
          <a:xfrm>
            <a:off x="4133850" y="1689100"/>
            <a:ext cx="0" cy="3663950"/>
          </a:xfrm>
          <a:prstGeom prst="line">
            <a:avLst/>
          </a:prstGeom>
          <a:noFill/>
          <a:ln w="28575" cap="flat">
            <a:solidFill>
              <a:schemeClr val="accent6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3B0A386-2175-AE6F-E59B-A41C72BD593C}"/>
              </a:ext>
            </a:extLst>
          </p:cNvPr>
          <p:cNvCxnSpPr>
            <a:cxnSpLocks/>
          </p:cNvCxnSpPr>
          <p:nvPr/>
        </p:nvCxnSpPr>
        <p:spPr>
          <a:xfrm>
            <a:off x="4743450" y="1689100"/>
            <a:ext cx="0" cy="3663950"/>
          </a:xfrm>
          <a:prstGeom prst="line">
            <a:avLst/>
          </a:prstGeom>
          <a:noFill/>
          <a:ln w="28575" cap="flat">
            <a:solidFill>
              <a:schemeClr val="accent6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FB24430D-18D5-0991-7620-D44C8C552947}"/>
              </a:ext>
            </a:extLst>
          </p:cNvPr>
          <p:cNvSpPr txBox="1"/>
          <p:nvPr/>
        </p:nvSpPr>
        <p:spPr>
          <a:xfrm>
            <a:off x="3549650" y="5435600"/>
            <a:ext cx="1727197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ADDI x1,x0,5</a:t>
            </a:r>
            <a:b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验证点：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x1_ra_r=5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D45A9AA-1E66-28FA-945D-BD9B1B6D0FA9}"/>
              </a:ext>
            </a:extLst>
          </p:cNvPr>
          <p:cNvCxnSpPr>
            <a:cxnSpLocks/>
          </p:cNvCxnSpPr>
          <p:nvPr/>
        </p:nvCxnSpPr>
        <p:spPr>
          <a:xfrm>
            <a:off x="7759700" y="1689100"/>
            <a:ext cx="0" cy="3663950"/>
          </a:xfrm>
          <a:prstGeom prst="line">
            <a:avLst/>
          </a:prstGeom>
          <a:noFill/>
          <a:ln w="28575" cap="flat">
            <a:solidFill>
              <a:schemeClr val="accent6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E324A08-30E7-5341-DD18-96D4BA8809BA}"/>
              </a:ext>
            </a:extLst>
          </p:cNvPr>
          <p:cNvCxnSpPr>
            <a:cxnSpLocks/>
          </p:cNvCxnSpPr>
          <p:nvPr/>
        </p:nvCxnSpPr>
        <p:spPr>
          <a:xfrm>
            <a:off x="8356600" y="1689100"/>
            <a:ext cx="0" cy="3663950"/>
          </a:xfrm>
          <a:prstGeom prst="line">
            <a:avLst/>
          </a:prstGeom>
          <a:noFill/>
          <a:ln w="28575" cap="flat">
            <a:solidFill>
              <a:schemeClr val="accent6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05FB118-B25E-7AF7-A5B7-43DE055A085D}"/>
              </a:ext>
            </a:extLst>
          </p:cNvPr>
          <p:cNvSpPr txBox="1"/>
          <p:nvPr/>
        </p:nvSpPr>
        <p:spPr>
          <a:xfrm>
            <a:off x="7188200" y="5363243"/>
            <a:ext cx="1727197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OR x7,x1,x2</a:t>
            </a:r>
            <a:b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验证点：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x7_t2_r=15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613317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F8A24-0564-A7C4-D6AF-D2714821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918780-E78E-799B-B8ED-2BE3437C2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48" y="1101513"/>
            <a:ext cx="9787080" cy="4323894"/>
          </a:xfrm>
          <a:prstGeom prst="rect">
            <a:avLst/>
          </a:prstGeom>
        </p:spPr>
      </p:pic>
      <p:sp>
        <p:nvSpPr>
          <p:cNvPr id="193" name="文本框 3">
            <a:extLst>
              <a:ext uri="{FF2B5EF4-FFF2-40B4-BE49-F238E27FC236}">
                <a16:creationId xmlns:a16="http://schemas.microsoft.com/office/drawing/2014/main" id="{885617E7-AE4F-EB9E-462E-7F26201A0CC9}"/>
              </a:ext>
            </a:extLst>
          </p:cNvPr>
          <p:cNvSpPr txBox="1"/>
          <p:nvPr/>
        </p:nvSpPr>
        <p:spPr>
          <a:xfrm>
            <a:off x="621171" y="40491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 altLang="zh-CN" dirty="0"/>
              <a:t>Core Test – </a:t>
            </a:r>
            <a:r>
              <a:rPr lang="zh-CN" altLang="en-US" dirty="0"/>
              <a:t>立即数指令</a:t>
            </a:r>
            <a:endParaRPr lang="en-US" dirty="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C4536B2-671C-5182-683F-57CDC5C3B590}"/>
              </a:ext>
            </a:extLst>
          </p:cNvPr>
          <p:cNvCxnSpPr>
            <a:cxnSpLocks/>
          </p:cNvCxnSpPr>
          <p:nvPr/>
        </p:nvCxnSpPr>
        <p:spPr>
          <a:xfrm>
            <a:off x="3035300" y="1689100"/>
            <a:ext cx="0" cy="4177387"/>
          </a:xfrm>
          <a:prstGeom prst="line">
            <a:avLst/>
          </a:prstGeom>
          <a:noFill/>
          <a:ln w="28575" cap="flat">
            <a:solidFill>
              <a:schemeClr val="accent6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5EF3F11-6901-F6EB-0936-F0CE8109AB60}"/>
              </a:ext>
            </a:extLst>
          </p:cNvPr>
          <p:cNvCxnSpPr>
            <a:cxnSpLocks/>
          </p:cNvCxnSpPr>
          <p:nvPr/>
        </p:nvCxnSpPr>
        <p:spPr>
          <a:xfrm>
            <a:off x="3568700" y="1689100"/>
            <a:ext cx="0" cy="4105030"/>
          </a:xfrm>
          <a:prstGeom prst="line">
            <a:avLst/>
          </a:prstGeom>
          <a:noFill/>
          <a:ln w="28575" cap="flat">
            <a:solidFill>
              <a:schemeClr val="accent6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794AF205-3F24-C5B6-AB63-B7267C850B21}"/>
              </a:ext>
            </a:extLst>
          </p:cNvPr>
          <p:cNvSpPr txBox="1"/>
          <p:nvPr/>
        </p:nvSpPr>
        <p:spPr>
          <a:xfrm>
            <a:off x="2317755" y="5866487"/>
            <a:ext cx="2012945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ADDI x16,x0,20</a:t>
            </a:r>
            <a:b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验证点：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x16_a6_r=20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49B16BB-68E0-068F-F76E-C7083BB32E0B}"/>
              </a:ext>
            </a:extLst>
          </p:cNvPr>
          <p:cNvCxnSpPr>
            <a:cxnSpLocks/>
          </p:cNvCxnSpPr>
          <p:nvPr/>
        </p:nvCxnSpPr>
        <p:spPr>
          <a:xfrm>
            <a:off x="6813550" y="1699293"/>
            <a:ext cx="0" cy="3996657"/>
          </a:xfrm>
          <a:prstGeom prst="line">
            <a:avLst/>
          </a:prstGeom>
          <a:noFill/>
          <a:ln w="28575" cap="flat">
            <a:solidFill>
              <a:schemeClr val="accent6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18D7894-91C7-7299-9959-3FD1CC2A9FC9}"/>
              </a:ext>
            </a:extLst>
          </p:cNvPr>
          <p:cNvCxnSpPr>
            <a:cxnSpLocks/>
          </p:cNvCxnSpPr>
          <p:nvPr/>
        </p:nvCxnSpPr>
        <p:spPr>
          <a:xfrm>
            <a:off x="7372350" y="1689100"/>
            <a:ext cx="0" cy="3905250"/>
          </a:xfrm>
          <a:prstGeom prst="line">
            <a:avLst/>
          </a:prstGeom>
          <a:noFill/>
          <a:ln w="28575" cap="flat">
            <a:solidFill>
              <a:schemeClr val="accent6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41DA2C3-AA41-2514-555C-97DDA013B448}"/>
              </a:ext>
            </a:extLst>
          </p:cNvPr>
          <p:cNvSpPr txBox="1"/>
          <p:nvPr/>
        </p:nvSpPr>
        <p:spPr>
          <a:xfrm>
            <a:off x="6223004" y="5715000"/>
            <a:ext cx="1727197" cy="64633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b="1" dirty="0">
                <a:latin typeface="+mn-lt"/>
              </a:rPr>
              <a:t>SRLI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 x23,x1,1</a:t>
            </a:r>
            <a:b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验证点：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x23_s7_r=2 (5&gt;&gt;1)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174049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A1CB2-3835-69C3-5279-F2905FE79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9528F3B-596F-DDCF-67D4-FAAF1E88A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77" y="1070220"/>
            <a:ext cx="7732024" cy="3438993"/>
          </a:xfrm>
          <a:prstGeom prst="rect">
            <a:avLst/>
          </a:prstGeom>
        </p:spPr>
      </p:pic>
      <p:sp>
        <p:nvSpPr>
          <p:cNvPr id="193" name="文本框 3">
            <a:extLst>
              <a:ext uri="{FF2B5EF4-FFF2-40B4-BE49-F238E27FC236}">
                <a16:creationId xmlns:a16="http://schemas.microsoft.com/office/drawing/2014/main" id="{40ADBF77-0BC3-3346-BD06-3E8D65443A1A}"/>
              </a:ext>
            </a:extLst>
          </p:cNvPr>
          <p:cNvSpPr txBox="1"/>
          <p:nvPr/>
        </p:nvSpPr>
        <p:spPr>
          <a:xfrm>
            <a:off x="621171" y="40491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 altLang="zh-CN" dirty="0"/>
              <a:t>Core Test – </a:t>
            </a:r>
            <a:r>
              <a:rPr lang="zh-CN" altLang="en-US" dirty="0"/>
              <a:t>数据前递</a:t>
            </a:r>
            <a:endParaRPr 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235F14B-0629-8A02-DFD3-035B13907A58}"/>
              </a:ext>
            </a:extLst>
          </p:cNvPr>
          <p:cNvSpPr txBox="1"/>
          <p:nvPr/>
        </p:nvSpPr>
        <p:spPr>
          <a:xfrm>
            <a:off x="621171" y="4679552"/>
            <a:ext cx="1314445" cy="923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altLang="zh-CN" sz="1200" b="1" dirty="0"/>
              <a:t>ADDI x1,x0,5</a:t>
            </a:r>
          </a:p>
          <a:p>
            <a:endParaRPr lang="en-US" altLang="zh-CN" sz="1200" b="1" dirty="0"/>
          </a:p>
          <a:p>
            <a:r>
              <a:rPr lang="en-US" altLang="zh-CN" sz="1200" b="1" dirty="0"/>
              <a:t>ADDI x2,x0,10</a:t>
            </a:r>
          </a:p>
          <a:p>
            <a:br>
              <a:rPr lang="en-US" altLang="zh-CN" sz="1200" b="1" dirty="0"/>
            </a:br>
            <a:r>
              <a:rPr lang="en-US" altLang="zh-CN" sz="1200" b="1" dirty="0"/>
              <a:t>ADD x3,x1,x2</a:t>
            </a:r>
            <a:endParaRPr kumimoji="0" lang="zh-CN" alt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508AFAC-B018-58C8-9944-C47CF47179A3}"/>
              </a:ext>
            </a:extLst>
          </p:cNvPr>
          <p:cNvSpPr txBox="1"/>
          <p:nvPr/>
        </p:nvSpPr>
        <p:spPr>
          <a:xfrm>
            <a:off x="8147054" y="962498"/>
            <a:ext cx="3987796" cy="107721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PC=0x80000000: ADDI x1,x0,5     #x1=5</a:t>
            </a:r>
          </a:p>
          <a:p>
            <a:r>
              <a:rPr lang="en-US" altLang="zh-CN" sz="1400" b="1" dirty="0">
                <a:latin typeface="+mn-lt"/>
              </a:rPr>
              <a:t>PC=0x80000004: ADDI x2,x0,10   #x2=10</a:t>
            </a: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  <a:p>
            <a:r>
              <a:rPr lang="en-US" altLang="zh-CN" sz="1400" b="1" dirty="0">
                <a:latin typeface="+mn-lt"/>
              </a:rPr>
              <a:t>PC=0x80000008: ADD x3,x1,x2    #x3=x1+x2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1F2B18E-CC08-88B8-B7D3-0BF63551F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857093"/>
              </p:ext>
            </p:extLst>
          </p:nvPr>
        </p:nvGraphicFramePr>
        <p:xfrm>
          <a:off x="1854201" y="4584957"/>
          <a:ext cx="33400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157">
                  <a:extLst>
                    <a:ext uri="{9D8B030D-6E8A-4147-A177-3AD203B41FA5}">
                      <a16:colId xmlns:a16="http://schemas.microsoft.com/office/drawing/2014/main" val="3432736713"/>
                    </a:ext>
                  </a:extLst>
                </a:gridCol>
                <a:gridCol w="477157">
                  <a:extLst>
                    <a:ext uri="{9D8B030D-6E8A-4147-A177-3AD203B41FA5}">
                      <a16:colId xmlns:a16="http://schemas.microsoft.com/office/drawing/2014/main" val="3785224880"/>
                    </a:ext>
                  </a:extLst>
                </a:gridCol>
                <a:gridCol w="477157">
                  <a:extLst>
                    <a:ext uri="{9D8B030D-6E8A-4147-A177-3AD203B41FA5}">
                      <a16:colId xmlns:a16="http://schemas.microsoft.com/office/drawing/2014/main" val="2493428579"/>
                    </a:ext>
                  </a:extLst>
                </a:gridCol>
                <a:gridCol w="477157">
                  <a:extLst>
                    <a:ext uri="{9D8B030D-6E8A-4147-A177-3AD203B41FA5}">
                      <a16:colId xmlns:a16="http://schemas.microsoft.com/office/drawing/2014/main" val="3884476480"/>
                    </a:ext>
                  </a:extLst>
                </a:gridCol>
                <a:gridCol w="477157">
                  <a:extLst>
                    <a:ext uri="{9D8B030D-6E8A-4147-A177-3AD203B41FA5}">
                      <a16:colId xmlns:a16="http://schemas.microsoft.com/office/drawing/2014/main" val="2898595146"/>
                    </a:ext>
                  </a:extLst>
                </a:gridCol>
                <a:gridCol w="477157">
                  <a:extLst>
                    <a:ext uri="{9D8B030D-6E8A-4147-A177-3AD203B41FA5}">
                      <a16:colId xmlns:a16="http://schemas.microsoft.com/office/drawing/2014/main" val="3750571362"/>
                    </a:ext>
                  </a:extLst>
                </a:gridCol>
                <a:gridCol w="477157">
                  <a:extLst>
                    <a:ext uri="{9D8B030D-6E8A-4147-A177-3AD203B41FA5}">
                      <a16:colId xmlns:a16="http://schemas.microsoft.com/office/drawing/2014/main" val="1353758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EX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WB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440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EX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M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962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EX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64572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67773CA-DCB0-23E9-72D9-5BB619D047F6}"/>
              </a:ext>
            </a:extLst>
          </p:cNvPr>
          <p:cNvSpPr txBox="1"/>
          <p:nvPr/>
        </p:nvSpPr>
        <p:spPr>
          <a:xfrm>
            <a:off x="5295904" y="4666337"/>
            <a:ext cx="1162046" cy="21544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x1=5</a:t>
            </a:r>
            <a:r>
              <a:rPr kumimoji="0" lang="zh-CN" altLang="en-US" sz="14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已写回</a:t>
            </a: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882A2A-C86D-84A7-CD2B-6AB768793A8D}"/>
              </a:ext>
            </a:extLst>
          </p:cNvPr>
          <p:cNvSpPr txBox="1"/>
          <p:nvPr/>
        </p:nvSpPr>
        <p:spPr>
          <a:xfrm>
            <a:off x="5295904" y="5038905"/>
            <a:ext cx="2590796" cy="21544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x2=10</a:t>
            </a:r>
            <a:r>
              <a:rPr lang="zh-CN" altLang="en-US" sz="1400" dirty="0">
                <a:solidFill>
                  <a:srgbClr val="0070C0"/>
                </a:solidFill>
                <a:latin typeface="+mn-lt"/>
              </a:rPr>
              <a:t>在</a:t>
            </a:r>
            <a:r>
              <a:rPr lang="en-US" altLang="zh-CN" sz="1400" dirty="0" err="1">
                <a:solidFill>
                  <a:srgbClr val="0070C0"/>
                </a:solidFill>
                <a:latin typeface="+mn-lt"/>
              </a:rPr>
              <a:t>ex_mem_ex_result_r</a:t>
            </a:r>
            <a:r>
              <a:rPr lang="zh-CN" altLang="en-US" sz="1400" dirty="0">
                <a:solidFill>
                  <a:srgbClr val="0070C0"/>
                </a:solidFill>
                <a:latin typeface="+mn-lt"/>
              </a:rPr>
              <a:t>中</a:t>
            </a: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E6B84A-C8FC-1DF2-4A84-E8276D68CAE7}"/>
              </a:ext>
            </a:extLst>
          </p:cNvPr>
          <p:cNvSpPr txBox="1"/>
          <p:nvPr/>
        </p:nvSpPr>
        <p:spPr>
          <a:xfrm>
            <a:off x="4581529" y="5986652"/>
            <a:ext cx="4266138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 err="1">
                <a:solidFill>
                  <a:srgbClr val="0070C0"/>
                </a:solidFill>
                <a:latin typeface="+mn-lt"/>
              </a:rPr>
              <a:t>e</a:t>
            </a:r>
            <a:r>
              <a:rPr kumimoji="0" lang="en-US" altLang="zh-CN" sz="140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x_mem_rd_r</a:t>
            </a:r>
            <a:r>
              <a:rPr kumimoji="0" lang="en-US" altLang="zh-CN" sz="14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==id_ex_rs2_r,</a:t>
            </a:r>
            <a:r>
              <a:rPr kumimoji="0" lang="zh-CN" altLang="en-US" sz="14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 发生前递</a:t>
            </a:r>
            <a:endParaRPr kumimoji="0" lang="en-US" altLang="zh-CN" sz="140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0070C0"/>
                </a:solidFill>
                <a:latin typeface="+mn-lt"/>
              </a:rPr>
              <a:t>ex_rs2_data_w=</a:t>
            </a:r>
            <a:r>
              <a:rPr lang="en-US" altLang="zh-CN" sz="1400" dirty="0" err="1">
                <a:solidFill>
                  <a:srgbClr val="0070C0"/>
                </a:solidFill>
                <a:latin typeface="+mn-lt"/>
              </a:rPr>
              <a:t>ex_mem_ex_result_r</a:t>
            </a:r>
            <a:r>
              <a:rPr lang="en-US" altLang="zh-CN" sz="1400" dirty="0">
                <a:solidFill>
                  <a:srgbClr val="0070C0"/>
                </a:solidFill>
                <a:latin typeface="+mn-lt"/>
              </a:rPr>
              <a:t>=10,</a:t>
            </a:r>
            <a:r>
              <a:rPr lang="zh-CN" altLang="en-US" sz="1400" dirty="0">
                <a:solidFill>
                  <a:srgbClr val="0070C0"/>
                </a:solidFill>
                <a:latin typeface="+mn-lt"/>
              </a:rPr>
              <a:t>前递成功</a:t>
            </a:r>
            <a:endParaRPr kumimoji="0" lang="en-US" altLang="zh-CN" sz="140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6AE5746-9A05-BFCF-A307-D9256A625D8B}"/>
              </a:ext>
            </a:extLst>
          </p:cNvPr>
          <p:cNvCxnSpPr>
            <a:cxnSpLocks/>
          </p:cNvCxnSpPr>
          <p:nvPr/>
        </p:nvCxnSpPr>
        <p:spPr>
          <a:xfrm>
            <a:off x="4718050" y="4989502"/>
            <a:ext cx="0" cy="947748"/>
          </a:xfrm>
          <a:prstGeom prst="straightConnector1">
            <a:avLst/>
          </a:prstGeom>
          <a:noFill/>
          <a:ln w="38100" cap="flat">
            <a:solidFill>
              <a:schemeClr val="accent6">
                <a:lumMod val="75000"/>
              </a:schemeClr>
            </a:solidFill>
            <a:prstDash val="solid"/>
            <a:miter lim="800000"/>
            <a:tailEnd type="triangle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8044370-4C29-8088-9B8D-6E68FEF354CB}"/>
              </a:ext>
            </a:extLst>
          </p:cNvPr>
          <p:cNvSpPr/>
          <p:nvPr/>
        </p:nvSpPr>
        <p:spPr>
          <a:xfrm>
            <a:off x="4268260" y="3529734"/>
            <a:ext cx="485771" cy="162000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86E753-B1D0-76E8-12F9-465FFE162929}"/>
              </a:ext>
            </a:extLst>
          </p:cNvPr>
          <p:cNvSpPr/>
          <p:nvPr/>
        </p:nvSpPr>
        <p:spPr>
          <a:xfrm>
            <a:off x="4268261" y="2688916"/>
            <a:ext cx="485771" cy="201600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70797E-C84E-ED1C-65EF-A98C8FAF9FCE}"/>
              </a:ext>
            </a:extLst>
          </p:cNvPr>
          <p:cNvSpPr/>
          <p:nvPr/>
        </p:nvSpPr>
        <p:spPr>
          <a:xfrm>
            <a:off x="4268261" y="4320951"/>
            <a:ext cx="485771" cy="201600"/>
          </a:xfrm>
          <a:prstGeom prst="rect">
            <a:avLst/>
          </a:prstGeom>
          <a:noFill/>
          <a:ln w="19050" cap="flat">
            <a:solidFill>
              <a:srgbClr val="00B0F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8AB143-B651-1DE5-F620-FB521D84289F}"/>
              </a:ext>
            </a:extLst>
          </p:cNvPr>
          <p:cNvSpPr/>
          <p:nvPr/>
        </p:nvSpPr>
        <p:spPr>
          <a:xfrm>
            <a:off x="4268261" y="3346728"/>
            <a:ext cx="485771" cy="162000"/>
          </a:xfrm>
          <a:prstGeom prst="rect">
            <a:avLst/>
          </a:prstGeom>
          <a:noFill/>
          <a:ln w="19050" cap="flat">
            <a:solidFill>
              <a:srgbClr val="00B0F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19314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ECBC3-3C15-349B-4BF0-E23B8506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87D08C20-2F64-FDD4-2E0F-57679B150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144" y="50395"/>
            <a:ext cx="6327410" cy="4866393"/>
          </a:xfrm>
          <a:prstGeom prst="rect">
            <a:avLst/>
          </a:prstGeom>
        </p:spPr>
      </p:pic>
      <p:sp>
        <p:nvSpPr>
          <p:cNvPr id="193" name="文本框 3">
            <a:extLst>
              <a:ext uri="{FF2B5EF4-FFF2-40B4-BE49-F238E27FC236}">
                <a16:creationId xmlns:a16="http://schemas.microsoft.com/office/drawing/2014/main" id="{6D0369EE-15DD-E64F-7EBA-E8BB5E5C50E6}"/>
              </a:ext>
            </a:extLst>
          </p:cNvPr>
          <p:cNvSpPr txBox="1"/>
          <p:nvPr/>
        </p:nvSpPr>
        <p:spPr>
          <a:xfrm>
            <a:off x="621171" y="40491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 altLang="zh-CN" dirty="0"/>
              <a:t>Core Test – </a:t>
            </a:r>
            <a:r>
              <a:rPr lang="zh-CN" altLang="en-US" dirty="0"/>
              <a:t>分支</a:t>
            </a:r>
            <a:endParaRPr 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5F72A3C-7FEC-88A3-6A31-9E23A79E55B7}"/>
              </a:ext>
            </a:extLst>
          </p:cNvPr>
          <p:cNvSpPr txBox="1"/>
          <p:nvPr/>
        </p:nvSpPr>
        <p:spPr>
          <a:xfrm>
            <a:off x="6035976" y="5081007"/>
            <a:ext cx="1314445" cy="18466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altLang="zh-CN" sz="1200" b="1" dirty="0"/>
              <a:t>JAL x1,8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2AE5C3-5A44-C511-3D8C-E044D0E7E70F}"/>
              </a:ext>
            </a:extLst>
          </p:cNvPr>
          <p:cNvSpPr txBox="1"/>
          <p:nvPr/>
        </p:nvSpPr>
        <p:spPr>
          <a:xfrm>
            <a:off x="4353960" y="6119213"/>
            <a:ext cx="2494353" cy="43088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PC=0x80000068: JAL x1,8</a:t>
            </a:r>
          </a:p>
          <a:p>
            <a:r>
              <a:rPr lang="en-US" altLang="zh-CN" sz="1400" b="1" dirty="0">
                <a:latin typeface="+mn-lt"/>
              </a:rPr>
              <a:t>PC=0x8000006c: NOP</a:t>
            </a: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B5B93F4-140E-73E1-BEE4-4E9512D08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530980"/>
              </p:ext>
            </p:extLst>
          </p:nvPr>
        </p:nvGraphicFramePr>
        <p:xfrm>
          <a:off x="6807884" y="4987920"/>
          <a:ext cx="27472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458">
                  <a:extLst>
                    <a:ext uri="{9D8B030D-6E8A-4147-A177-3AD203B41FA5}">
                      <a16:colId xmlns:a16="http://schemas.microsoft.com/office/drawing/2014/main" val="3432736713"/>
                    </a:ext>
                  </a:extLst>
                </a:gridCol>
                <a:gridCol w="549458">
                  <a:extLst>
                    <a:ext uri="{9D8B030D-6E8A-4147-A177-3AD203B41FA5}">
                      <a16:colId xmlns:a16="http://schemas.microsoft.com/office/drawing/2014/main" val="3785224880"/>
                    </a:ext>
                  </a:extLst>
                </a:gridCol>
                <a:gridCol w="549458">
                  <a:extLst>
                    <a:ext uri="{9D8B030D-6E8A-4147-A177-3AD203B41FA5}">
                      <a16:colId xmlns:a16="http://schemas.microsoft.com/office/drawing/2014/main" val="2493428579"/>
                    </a:ext>
                  </a:extLst>
                </a:gridCol>
                <a:gridCol w="549458">
                  <a:extLst>
                    <a:ext uri="{9D8B030D-6E8A-4147-A177-3AD203B41FA5}">
                      <a16:colId xmlns:a16="http://schemas.microsoft.com/office/drawing/2014/main" val="2573141450"/>
                    </a:ext>
                  </a:extLst>
                </a:gridCol>
                <a:gridCol w="549458">
                  <a:extLst>
                    <a:ext uri="{9D8B030D-6E8A-4147-A177-3AD203B41FA5}">
                      <a16:colId xmlns:a16="http://schemas.microsoft.com/office/drawing/2014/main" val="670378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IF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ID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EX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44072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5A09F4A-12E3-D9FD-87C6-4FF58D9FB871}"/>
              </a:ext>
            </a:extLst>
          </p:cNvPr>
          <p:cNvSpPr txBox="1"/>
          <p:nvPr/>
        </p:nvSpPr>
        <p:spPr>
          <a:xfrm>
            <a:off x="6184687" y="5454115"/>
            <a:ext cx="1017022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000" dirty="0" err="1">
                <a:solidFill>
                  <a:srgbClr val="0070C0"/>
                </a:solidFill>
                <a:latin typeface="+mn-lt"/>
              </a:rPr>
              <a:t>i</a:t>
            </a:r>
            <a:r>
              <a:rPr kumimoji="0" lang="en-US" altLang="zh-CN" sz="100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f_id_pc_r</a:t>
            </a:r>
            <a: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=</a:t>
            </a:r>
            <a:b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0x80000068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2389F0-984F-00EE-FAFA-8F4A8F5B8E92}"/>
              </a:ext>
            </a:extLst>
          </p:cNvPr>
          <p:cNvSpPr/>
          <p:nvPr/>
        </p:nvSpPr>
        <p:spPr>
          <a:xfrm>
            <a:off x="8303052" y="3854701"/>
            <a:ext cx="797990" cy="361357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D2C309C-319A-7089-59BA-DE997301D3C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181529" y="5358760"/>
            <a:ext cx="243046" cy="823332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5C18342-5362-8E48-DE76-2A09740A0196}"/>
              </a:ext>
            </a:extLst>
          </p:cNvPr>
          <p:cNvSpPr txBox="1"/>
          <p:nvPr/>
        </p:nvSpPr>
        <p:spPr>
          <a:xfrm>
            <a:off x="7125551" y="5451847"/>
            <a:ext cx="1099931" cy="4616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流水线预取</a:t>
            </a:r>
            <a:r>
              <a:rPr lang="zh-CN" altLang="en-US" sz="1000" dirty="0">
                <a:solidFill>
                  <a:srgbClr val="0070C0"/>
                </a:solidFill>
                <a:latin typeface="+mn-lt"/>
              </a:rPr>
              <a:t>：</a:t>
            </a:r>
            <a:b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00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if_id</a:t>
            </a:r>
            <a:r>
              <a:rPr lang="en-US" altLang="zh-CN" sz="1000" dirty="0" err="1">
                <a:solidFill>
                  <a:srgbClr val="0070C0"/>
                </a:solidFill>
                <a:latin typeface="+mn-lt"/>
              </a:rPr>
              <a:t>_inst_r</a:t>
            </a:r>
            <a:r>
              <a:rPr lang="en-US" altLang="zh-CN" sz="1000" dirty="0">
                <a:solidFill>
                  <a:srgbClr val="0070C0"/>
                </a:solidFill>
                <a:latin typeface="+mn-lt"/>
              </a:rPr>
              <a:t>=0x00000013 (NOP</a:t>
            </a:r>
            <a:r>
              <a:rPr lang="zh-CN" altLang="en-US" sz="1000" dirty="0">
                <a:solidFill>
                  <a:srgbClr val="0070C0"/>
                </a:solidFill>
                <a:latin typeface="+mn-lt"/>
              </a:rPr>
              <a:t>指令</a:t>
            </a:r>
            <a:r>
              <a:rPr lang="en-US" altLang="zh-CN" sz="1000" dirty="0">
                <a:solidFill>
                  <a:srgbClr val="0070C0"/>
                </a:solidFill>
                <a:latin typeface="+mn-lt"/>
              </a:rPr>
              <a:t>)</a:t>
            </a:r>
            <a:endParaRPr kumimoji="0" lang="en-US" altLang="zh-CN" sz="100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0AFA41-7856-F800-3DCA-2912B81686FD}"/>
              </a:ext>
            </a:extLst>
          </p:cNvPr>
          <p:cNvSpPr txBox="1"/>
          <p:nvPr/>
        </p:nvSpPr>
        <p:spPr>
          <a:xfrm>
            <a:off x="7125551" y="6290378"/>
            <a:ext cx="2704189" cy="677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000" dirty="0">
                <a:solidFill>
                  <a:srgbClr val="0070C0"/>
                </a:solidFill>
                <a:latin typeface="+mn-lt"/>
              </a:rPr>
              <a:t>计算跳转：</a:t>
            </a:r>
            <a:b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00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ex_exec_pc_take_branch_i</a:t>
            </a:r>
            <a: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=1;</a:t>
            </a:r>
            <a:b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00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ex_exec_pc_branch_i</a:t>
            </a:r>
            <a: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=0x80000070(0x68+8</a:t>
            </a:r>
            <a:r>
              <a:rPr kumimoji="0" lang="zh-CN" altLang="en-US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）</a:t>
            </a:r>
            <a:br>
              <a:rPr kumimoji="0" lang="en-US" altLang="zh-CN" sz="14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endParaRPr kumimoji="0" lang="en-US" altLang="zh-CN" sz="140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B54B52-A3AA-5CFD-10AF-7E23BF0063F9}"/>
              </a:ext>
            </a:extLst>
          </p:cNvPr>
          <p:cNvSpPr txBox="1"/>
          <p:nvPr/>
        </p:nvSpPr>
        <p:spPr>
          <a:xfrm>
            <a:off x="8485371" y="5403159"/>
            <a:ext cx="1838048" cy="7694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000" dirty="0">
                <a:solidFill>
                  <a:srgbClr val="0070C0"/>
                </a:solidFill>
                <a:latin typeface="+mn-lt"/>
              </a:rPr>
              <a:t>分支生效：</a:t>
            </a:r>
            <a:b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00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ex_exec_pc_take_branch_r</a:t>
            </a:r>
            <a: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=1;</a:t>
            </a:r>
            <a:b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00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control_hazard_w</a:t>
            </a:r>
            <a: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=1;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c</a:t>
            </a:r>
            <a:r>
              <a:rPr lang="en-US" altLang="zh-CN" sz="1000" dirty="0" err="1">
                <a:solidFill>
                  <a:srgbClr val="0070C0"/>
                </a:solidFill>
                <a:latin typeface="+mn-lt"/>
              </a:rPr>
              <a:t>ontrol_hazard_r</a:t>
            </a:r>
            <a:r>
              <a:rPr lang="en-US" altLang="zh-CN" sz="1000" dirty="0">
                <a:solidFill>
                  <a:srgbClr val="0070C0"/>
                </a:solidFill>
                <a:latin typeface="+mn-lt"/>
              </a:rPr>
              <a:t>=1(</a:t>
            </a:r>
            <a:r>
              <a:rPr lang="zh-CN" altLang="en-US" sz="1000" dirty="0">
                <a:solidFill>
                  <a:srgbClr val="0070C0"/>
                </a:solidFill>
                <a:latin typeface="+mn-lt"/>
              </a:rPr>
              <a:t>延迟一拍</a:t>
            </a:r>
            <a:r>
              <a:rPr lang="en-US" altLang="zh-CN" sz="1000" dirty="0">
                <a:solidFill>
                  <a:srgbClr val="0070C0"/>
                </a:solidFill>
                <a:latin typeface="+mn-lt"/>
              </a:rPr>
              <a:t>)</a:t>
            </a:r>
            <a:br>
              <a:rPr lang="en-US" altLang="zh-CN" sz="1000" dirty="0">
                <a:solidFill>
                  <a:srgbClr val="0070C0"/>
                </a:solidFill>
                <a:latin typeface="+mn-lt"/>
              </a:rPr>
            </a:br>
            <a:r>
              <a:rPr lang="en-US" altLang="zh-CN" sz="1000" dirty="0">
                <a:solidFill>
                  <a:srgbClr val="0070C0"/>
                </a:solidFill>
                <a:latin typeface="+mn-lt"/>
              </a:rPr>
              <a:t>Flush</a:t>
            </a:r>
            <a:r>
              <a:rPr lang="zh-CN" altLang="en-US" sz="1000" dirty="0">
                <a:solidFill>
                  <a:srgbClr val="0070C0"/>
                </a:solidFill>
                <a:latin typeface="+mn-lt"/>
              </a:rPr>
              <a:t>流水线</a:t>
            </a:r>
            <a:endParaRPr kumimoji="0" lang="en-US" altLang="zh-CN" sz="140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F0E92BD-AEF8-0B04-3449-6A9B122898F4}"/>
              </a:ext>
            </a:extLst>
          </p:cNvPr>
          <p:cNvCxnSpPr>
            <a:cxnSpLocks/>
          </p:cNvCxnSpPr>
          <p:nvPr/>
        </p:nvCxnSpPr>
        <p:spPr>
          <a:xfrm>
            <a:off x="9281460" y="5173340"/>
            <a:ext cx="1439727" cy="588552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866B6DA-1DC4-ED53-6500-5B7884FC7F3C}"/>
              </a:ext>
            </a:extLst>
          </p:cNvPr>
          <p:cNvSpPr txBox="1"/>
          <p:nvPr/>
        </p:nvSpPr>
        <p:spPr>
          <a:xfrm>
            <a:off x="10384215" y="5844652"/>
            <a:ext cx="1838048" cy="4616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重新取指</a:t>
            </a:r>
            <a:b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PC</a:t>
            </a:r>
            <a:r>
              <a:rPr kumimoji="0" lang="zh-CN" altLang="en-US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跳转到</a:t>
            </a:r>
            <a: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0x80000070</a:t>
            </a:r>
            <a:br>
              <a:rPr kumimoji="0" lang="en-US" altLang="zh-CN" sz="100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en-US" altLang="zh-CN" sz="100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if_</a:t>
            </a:r>
            <a:r>
              <a:rPr lang="en-US" altLang="zh-CN" sz="1000" dirty="0" err="1">
                <a:solidFill>
                  <a:srgbClr val="0070C0"/>
                </a:solidFill>
                <a:latin typeface="+mn-lt"/>
              </a:rPr>
              <a:t>id_inst_r</a:t>
            </a:r>
            <a:r>
              <a:rPr lang="en-US" altLang="zh-CN" sz="1000" dirty="0">
                <a:solidFill>
                  <a:srgbClr val="0070C0"/>
                </a:solidFill>
                <a:latin typeface="+mn-lt"/>
              </a:rPr>
              <a:t>=0x80000db7</a:t>
            </a:r>
            <a:endParaRPr kumimoji="0" lang="en-US" altLang="zh-CN" sz="140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1EE7F6B-073F-9513-D3F4-7315B0CC4DA9}"/>
              </a:ext>
            </a:extLst>
          </p:cNvPr>
          <p:cNvSpPr/>
          <p:nvPr/>
        </p:nvSpPr>
        <p:spPr>
          <a:xfrm>
            <a:off x="8424575" y="3304911"/>
            <a:ext cx="797990" cy="361357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5E426D1-73CC-6CED-3D58-4385D76898F1}"/>
              </a:ext>
            </a:extLst>
          </p:cNvPr>
          <p:cNvSpPr/>
          <p:nvPr/>
        </p:nvSpPr>
        <p:spPr>
          <a:xfrm>
            <a:off x="8356046" y="2543915"/>
            <a:ext cx="797990" cy="361357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767ECEC-CE2F-BFE4-7629-96CB879F7236}"/>
              </a:ext>
            </a:extLst>
          </p:cNvPr>
          <p:cNvSpPr/>
          <p:nvPr/>
        </p:nvSpPr>
        <p:spPr>
          <a:xfrm>
            <a:off x="8993712" y="533791"/>
            <a:ext cx="575495" cy="162000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B63AEEC-E8E0-2A4F-C079-CE83645A1A1A}"/>
              </a:ext>
            </a:extLst>
          </p:cNvPr>
          <p:cNvSpPr/>
          <p:nvPr/>
        </p:nvSpPr>
        <p:spPr>
          <a:xfrm>
            <a:off x="8979679" y="303972"/>
            <a:ext cx="575495" cy="162000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731378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A0BE4-6C30-CF48-FD39-1B9E4FF7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0A49F9-236C-486B-DC43-D03E9AEDA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91"/>
          <a:stretch>
            <a:fillRect/>
          </a:stretch>
        </p:blipFill>
        <p:spPr>
          <a:xfrm>
            <a:off x="635958" y="1018963"/>
            <a:ext cx="5612442" cy="5360001"/>
          </a:xfrm>
          <a:prstGeom prst="rect">
            <a:avLst/>
          </a:prstGeom>
        </p:spPr>
      </p:pic>
      <p:sp>
        <p:nvSpPr>
          <p:cNvPr id="193" name="文本框 3">
            <a:extLst>
              <a:ext uri="{FF2B5EF4-FFF2-40B4-BE49-F238E27FC236}">
                <a16:creationId xmlns:a16="http://schemas.microsoft.com/office/drawing/2014/main" id="{20D77D97-101C-2AE3-AEDC-88636E54B739}"/>
              </a:ext>
            </a:extLst>
          </p:cNvPr>
          <p:cNvSpPr txBox="1"/>
          <p:nvPr/>
        </p:nvSpPr>
        <p:spPr>
          <a:xfrm>
            <a:off x="621171" y="40491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 altLang="zh-CN" dirty="0"/>
              <a:t>Core Test – </a:t>
            </a:r>
            <a:r>
              <a:rPr lang="zh-CN" altLang="en-US" dirty="0"/>
              <a:t>乘法</a:t>
            </a:r>
            <a:endParaRPr 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5AF57B-D64D-6839-8BFF-6A9FF76FF24B}"/>
              </a:ext>
            </a:extLst>
          </p:cNvPr>
          <p:cNvSpPr txBox="1"/>
          <p:nvPr/>
        </p:nvSpPr>
        <p:spPr>
          <a:xfrm>
            <a:off x="972508" y="6453082"/>
            <a:ext cx="2494353" cy="21544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MUL x7,x6,x5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192D04C-75B2-C473-CDB8-D6CDCCC22B0D}"/>
              </a:ext>
            </a:extLst>
          </p:cNvPr>
          <p:cNvSpPr/>
          <p:nvPr/>
        </p:nvSpPr>
        <p:spPr>
          <a:xfrm>
            <a:off x="3346450" y="1271651"/>
            <a:ext cx="657652" cy="361357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D343FF-4013-367C-5187-CCEBC73AE644}"/>
              </a:ext>
            </a:extLst>
          </p:cNvPr>
          <p:cNvSpPr/>
          <p:nvPr/>
        </p:nvSpPr>
        <p:spPr>
          <a:xfrm>
            <a:off x="4004102" y="3030583"/>
            <a:ext cx="993348" cy="361357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1D6AEE-8A7B-C059-BD4F-35A1283EAC75}"/>
              </a:ext>
            </a:extLst>
          </p:cNvPr>
          <p:cNvSpPr/>
          <p:nvPr/>
        </p:nvSpPr>
        <p:spPr>
          <a:xfrm>
            <a:off x="4061252" y="4005985"/>
            <a:ext cx="993348" cy="361357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dash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苹方-简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04006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7A74A-7DAA-0DD0-54DB-576DCD1B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C46D5DB-EDC9-7E7F-F637-BACB5049A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324" y="984470"/>
            <a:ext cx="10256525" cy="4658173"/>
          </a:xfrm>
          <a:prstGeom prst="rect">
            <a:avLst/>
          </a:prstGeom>
        </p:spPr>
      </p:pic>
      <p:sp>
        <p:nvSpPr>
          <p:cNvPr id="193" name="文本框 3">
            <a:extLst>
              <a:ext uri="{FF2B5EF4-FFF2-40B4-BE49-F238E27FC236}">
                <a16:creationId xmlns:a16="http://schemas.microsoft.com/office/drawing/2014/main" id="{E4DFA3B2-AEFC-2E89-4497-170AD509B55C}"/>
              </a:ext>
            </a:extLst>
          </p:cNvPr>
          <p:cNvSpPr txBox="1"/>
          <p:nvPr/>
        </p:nvSpPr>
        <p:spPr>
          <a:xfrm>
            <a:off x="621171" y="404918"/>
            <a:ext cx="11449150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 b="1">
                <a:solidFill>
                  <a:srgbClr val="011993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</a:lstStyle>
          <a:p>
            <a:r>
              <a:rPr lang="en-US" altLang="zh-CN" dirty="0"/>
              <a:t>Core Test – CSR</a:t>
            </a:r>
            <a:endParaRPr lang="en-US" dirty="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6357C18-2577-89B4-E9F9-505A60781D5E}"/>
              </a:ext>
            </a:extLst>
          </p:cNvPr>
          <p:cNvCxnSpPr>
            <a:cxnSpLocks/>
          </p:cNvCxnSpPr>
          <p:nvPr/>
        </p:nvCxnSpPr>
        <p:spPr>
          <a:xfrm>
            <a:off x="5632450" y="1699293"/>
            <a:ext cx="0" cy="4177387"/>
          </a:xfrm>
          <a:prstGeom prst="line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B701A81-335C-3DE6-47C7-FC556E0622A8}"/>
              </a:ext>
            </a:extLst>
          </p:cNvPr>
          <p:cNvCxnSpPr>
            <a:cxnSpLocks/>
          </p:cNvCxnSpPr>
          <p:nvPr/>
        </p:nvCxnSpPr>
        <p:spPr>
          <a:xfrm>
            <a:off x="6242054" y="1689099"/>
            <a:ext cx="0" cy="4105030"/>
          </a:xfrm>
          <a:prstGeom prst="line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2BEDEF5-64D8-3706-E19C-A774708745B5}"/>
              </a:ext>
            </a:extLst>
          </p:cNvPr>
          <p:cNvSpPr txBox="1"/>
          <p:nvPr/>
        </p:nvSpPr>
        <p:spPr>
          <a:xfrm>
            <a:off x="4876164" y="5899029"/>
            <a:ext cx="1581786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CSRRW x0, </a:t>
            </a:r>
            <a:r>
              <a:rPr kumimoji="0" lang="en-US" altLang="zh-CN" sz="12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mtvec</a:t>
            </a:r>
            <a:r>
              <a:rPr kumimoji="0" lang="en-US" altLang="zh-CN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 x6</a:t>
            </a:r>
            <a:br>
              <a:rPr kumimoji="0" lang="en-US" altLang="zh-CN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kumimoji="0" lang="zh-CN" altLang="en-US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写</a:t>
            </a:r>
            <a:r>
              <a:rPr kumimoji="0" lang="en-US" altLang="zh-CN" sz="12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mtvec</a:t>
            </a:r>
            <a:r>
              <a:rPr kumimoji="0" lang="en-US" altLang="zh-CN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=x6</a:t>
            </a:r>
            <a:endParaRPr kumimoji="0" lang="zh-CN" alt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B346E23-105E-FB78-8270-06C069B463A3}"/>
              </a:ext>
            </a:extLst>
          </p:cNvPr>
          <p:cNvCxnSpPr>
            <a:cxnSpLocks/>
          </p:cNvCxnSpPr>
          <p:nvPr/>
        </p:nvCxnSpPr>
        <p:spPr>
          <a:xfrm>
            <a:off x="7461254" y="1735471"/>
            <a:ext cx="0" cy="4105030"/>
          </a:xfrm>
          <a:prstGeom prst="line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6CF492A-FB22-2861-1896-9F2C9B3F50D6}"/>
              </a:ext>
            </a:extLst>
          </p:cNvPr>
          <p:cNvCxnSpPr>
            <a:cxnSpLocks/>
          </p:cNvCxnSpPr>
          <p:nvPr/>
        </p:nvCxnSpPr>
        <p:spPr>
          <a:xfrm>
            <a:off x="6851012" y="1735471"/>
            <a:ext cx="0" cy="4105030"/>
          </a:xfrm>
          <a:prstGeom prst="line">
            <a:avLst/>
          </a:prstGeom>
          <a:noFill/>
          <a:ln w="28575" cap="flat">
            <a:solidFill>
              <a:schemeClr val="accent3">
                <a:lumMod val="60000"/>
                <a:lumOff val="40000"/>
              </a:schemeClr>
            </a:solidFill>
            <a:prstDash val="dash"/>
            <a:miter lim="800000"/>
          </a:ln>
          <a:effectLst>
            <a:outerShdw blurRad="101600" dist="50800" dir="5400000" rotWithShape="0">
              <a:schemeClr val="accent1">
                <a:alpha val="60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317927E-EEC8-7415-12E6-0D77677E31BB}"/>
              </a:ext>
            </a:extLst>
          </p:cNvPr>
          <p:cNvSpPr txBox="1"/>
          <p:nvPr/>
        </p:nvSpPr>
        <p:spPr>
          <a:xfrm>
            <a:off x="6457950" y="6106044"/>
            <a:ext cx="1581786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CSRRC x7, </a:t>
            </a:r>
            <a:r>
              <a:rPr kumimoji="0" lang="en-US" altLang="zh-CN" sz="12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mtvec</a:t>
            </a:r>
            <a:r>
              <a:rPr kumimoji="0" lang="en-US" altLang="zh-CN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  <a:t> x6</a:t>
            </a:r>
            <a:br>
              <a:rPr kumimoji="0" lang="en-US" altLang="zh-CN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j-ea"/>
                <a:cs typeface="+mj-cs"/>
                <a:sym typeface="苹方-简" panose="020B0400000000000000" charset="-122"/>
              </a:rPr>
            </a:br>
            <a:r>
              <a:rPr lang="zh-CN" altLang="en-US" sz="1200" b="1" dirty="0">
                <a:latin typeface="+mn-lt"/>
              </a:rPr>
              <a:t>清除</a:t>
            </a:r>
            <a:r>
              <a:rPr lang="en-US" altLang="zh-CN" sz="1200" b="1" dirty="0" err="1">
                <a:latin typeface="+mn-lt"/>
              </a:rPr>
              <a:t>mtvec</a:t>
            </a:r>
            <a:endParaRPr kumimoji="0" lang="zh-CN" altLang="en-US" sz="1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j-ea"/>
              <a:cs typeface="+mj-cs"/>
              <a:sym typeface="苹方-简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52843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00FF"/>
      </a:hlink>
      <a:folHlink>
        <a:srgbClr val="FF00FF"/>
      </a:folHlink>
    </a:clrScheme>
    <a:fontScheme name="WPS">
      <a:majorFont>
        <a:latin typeface="苹方-简"/>
        <a:ea typeface="苹方-简"/>
        <a:cs typeface="苹方-简"/>
      </a:majorFont>
      <a:minorFont>
        <a:latin typeface="Helvetica"/>
        <a:ea typeface="Helvetica"/>
        <a:cs typeface="Helvetica"/>
      </a:minorFont>
    </a:fontScheme>
    <a:fmtScheme name="W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01600" dist="50800" dir="5400000" rotWithShape="0">
              <a:schemeClr val="accent3">
                <a:alpha val="60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苹方-简" panose="020B0400000000000000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blurRad="101600" dist="50800" dir="5400000" rotWithShape="0">
            <a:schemeClr val="accent1">
              <a:alpha val="60000"/>
            </a:scheme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苹方-简" panose="020B0400000000000000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00FF"/>
      </a:hlink>
      <a:folHlink>
        <a:srgbClr val="FF00FF"/>
      </a:folHlink>
    </a:clrScheme>
    <a:fontScheme name="WPS">
      <a:majorFont>
        <a:latin typeface="苹方-简"/>
        <a:ea typeface="苹方-简"/>
        <a:cs typeface="苹方-简"/>
      </a:majorFont>
      <a:minorFont>
        <a:latin typeface="Helvetica"/>
        <a:ea typeface="Helvetica"/>
        <a:cs typeface="Helvetica"/>
      </a:minorFont>
    </a:fontScheme>
    <a:fmtScheme name="W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01600" dist="50800" dir="5400000" rotWithShape="0">
              <a:schemeClr val="accent3">
                <a:alpha val="60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苹方-简" panose="020B0400000000000000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blurRad="101600" dist="50800" dir="5400000" rotWithShape="0">
            <a:schemeClr val="accent1">
              <a:alpha val="60000"/>
            </a:scheme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苹方-简" panose="020B0400000000000000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ZUNoMEtTQTlJRnh6ZFcxZmUyazlNWDFlZTA1OUlFRmZUaUJjWTI5ektDaGNiMjFsWjJFZ0t5QnBJRnhFWld4MFlTQmNiMjFsWjJFcGRDQXJJR2xjUkdWc2RHRmNjR2hwS1NCY1hRPT0iLAoJIkxhdGV4SW1nQmFzZTY0IiA6ICJpVkJPUncwS0dnb0FBQUFOU1VoRVVnQUFCVDhBQUFEeUJBTUFBQUI1VUt6RUFBQUFNRkJNVkVYLy8vOEFBQUFBQUFBQUFBQUFBQUFBQUFBQUFBQUFBQUFBQUFBQUFBQUFBQUFBQUFBQUFBQUFBQUFBQUFBQUFBQXYzYUI3QUFBQUQzUlNUbE1BSW9tNzNXYXJWREx2ZGhDWlJNMzc1blg5QUFBQUNYQklXWE1BQUE3RUFBQU94QUdWS3c0YkFBQWdBRWxFUVZSNEFlMWRlWXcweDFYdnZZLzU5Z0NDSW5Ob0Z2RUhWNlQ1aE13UkFacU5ZaUxDNFZsaGlBUkVua1ZLaUNKUVpsRVFFQVV4SzI0RVpEYndCZVhEd3IwUi9BRUlaVGJnSkxZRHpDYmlKbUUySElrQ21CMGdnS0lBKzJGdmpEZTJ0M2l2N3FydTZhNmU2ZG5aTDM3OXgzUWRyMTY5L3ZXclY2OWVkZmRFMGZVNzNzVGd1RlJ5ZFM1dTNmL3hWN0l0bGFjeklUQmxCTHFvb094UVN0SG1PVkxRS2Q4VTZ0NUM0TkdQZ2xJZXFJSVgxeGw3N1QrcUhKMEpnZWtqc0F3Sytpa3R4anA3bVU1VGdoQzRCZ2lzWGpiWWhaWmpsdTNyTkNVSWdXdUF3TnlUYmNaMmxDQ0xUNmtVblFtQmE0SEF4dlB6akcwclVlYk5iSytLNkV3SVRCT0J6cDBGeHY1UFNkRDdYNVdpTXlGd0xSRG9EcUtZblN0UjJucEJyMHJvVEFoTUZZSDZWdFJrYkUvSzBOK2RxakRVT1NIZ0k4Qk9vaFhHQnJLNG9aZExQaDNsQ1lGcElMRE1vbWlWc2VkRjN4VzJPUTBocUU5Q1lCZ0NxN2dSSDZ2dCtDVVRFUjNXZ01vSmdhdEVZTzVKNkExMjVFOTRwemVldnNxK3FTOUNJQmVCRFp6Y054aTd5U2twREpvTEdCRmNMUUtkTzlEZkxHUFA4RzRwREhxMTZGTnZ1UWhBR0RTS0tveUpMVTRLZytZQ1JnUlhpd0NFUWVHb01mR1FDSVZCcnhaOTZpMFhBYkU2NmpHMmk2UVVCczBGakFpdUZJRmxkb1Q5M1dBTU4rRXBESHFsNEZObitRandNQ2gzUWpIQVJHSFFmTVNJNGtvUjRHRlE2TEhQY0ErSndxQlhDajUxbG8vQWl0empyREoySEVVVUJzMUhqQ2l1RklIT3M2SzdSY1lnUldIUUt3V2ZPc3RIb0xzdGFHWVlleTZLS0F5YWp4aFJYQ2tDOVdQWlhZdkJlcDdDb0ZjS1BuV1dqMEM4SjJrNkRMN1hRR0hRZk1TSTRpb1JtQkZoVU9oeURweFFDb05lSmZiVVZ3QUNDL3BsSlBoK3c1TVVCZzJBakVpdUVvRkZXQm5Kbzg3WUxEME5xdENnOC9WQVlFVy9ieHlkTXZaT2VpbitldHdXa2tJaFVKVmhVTWl2TXhiVFMvRUtHRHBmRHdTYTIxcU9OV1o5NVU2WFVvSVFtQ1lDcldQVCs1bDg1TTZVVUlvUW1ESUM1cXRoc0kxa2ZVTnN5bUpSOTRRQVIyQkJ2c3pKTS9BTk1YaWdpUTVDNFBvZ2NLby8vZzB5TFZtZkNiMCtJcElrTDF3RS92QkJlRUxrdytiNkd4UUdOV0JRYXVvSVFGd0pEeE5hYWxJWWRPbzNoUVF3Q0t3eitNK1oyMnhibDh3OXBKT1VJQVFJQVVLQUVDQUVDQUZDZ0JBZ0JBZ0JRb0FRSUFRSUFVS0FFQ0FFQ0FGQ2dCQWdCQWdCUW9BUUlBUUlBVUtBRUNBRUNBRkNnQkFnQkFnQlFvQVFJQVFJQVVLQUVDQUVDQUZDZ0JBZ0JBZ0JRb0FRSUFRSUFVS0FFQ0FFQ0FGQ2dCQWdCQWdCUW9BUUlBUUlBVUtBRUNBRUNJRzdCb0dabUgvcnBzalAvbDF6Y1NUbzNZOEFma081NExGNzkxODFYY0ZkZzhCU1FlMEVjdk1KKzd2bUtrblF1eFlCK0N1a29zZW43OXFMSmNIdlFnUnFRajkzaDRoZWVkZG5mZlM3WDNLdnJjUVhRMGlwbUJDWUFBTHlpNkE1bndHdC9Pd1h4MXBKMVY5NVRrQWFZa2tJZUFoVXBPTGxmb3ErOG1NTnFhSURqd1ZsQ1lFSkl0QVdhcmVkMzBYbE53WHBNL21rUkVFSWxJWEFEYUYxNWc4Nk14ai9SSXpFOU5uNkRJaW9xblFFNU13ZDVGbXVjZzA5S2wwR1lrZ0lERVdnaWxiUi91T0VvWlJRTVl1a1cxa1VWRWNJbEl2QUF1b2NZNWRoWFA4QVNBL0NTSW1LRUNnRmdSWlgwRkM3K0RIR3pQOTFsOUkvTVNFRU1oR0EvenZFNC9sTUlsMVpPUXMxdHJvSkpRaUJjUkNRMjUwWGdXdWZSY2IyeCttTzJoSUNCUkhvQ2hONk03QlpqZTBHVWhJWklWQUdBbk5DUVVPZkFsbWtCNXJLUVAwemg4Y1BuU1N2WmVadHliS1JTOVIyNTM0Z2gvcVRnWVJYU3ViRDVPZXZWSmlBenU3WkNTQ2FEa2t4N2JweHNaa2laaU4wUWs1cG15ZzZGU1kwOUg4NTU2L2pBMDArVEg0K2NkSFRMcGgvYXRvU0RPKy9rSGExVXZlK0g3azhHczYvYUEwUHY0ZnZZYzZ3dk1HLy9JR2lJb3hONzhQazU4ZnVJSmZCcS9OUWNUbFVHcDkwQ3lhYkt5UmRFZTJhWXlkcGtzL0UzNUpXUEdMWm1UQ2hvUWpYdG5QNnFhWUxuZE5xbkdvZkpqOC9EdSt3dHFzczU1bEZuODA5NTBkKzBlVHl4YVFyb2wxblF5NjdVK2JsVllXQ212K0p6MFpxSmRXb1cyM3F1VGJXSWk0bDZjUGs1MHZwSkpQSkNpdm8rU3l6TW0xTXBteFJGQ0xkbS9ZMGszRHRXaHkydzdQRUJwcmQyQW41YXRKNUlLUFZuQWVhZ04xV0lLdVN5SHlZL0h4SjNXU3hnV0RkWVZaOXNxNGR1TDJjYkZtOEpFUzZ1bEhRY08ycURYV2xhemxhVXVnaStzS0VIZ2MyZWlLYmJvVmRkYWpVaDhuUFo4dGJTbTFjK0NHRjJTdEVLVVE2WnJrY29kcTFOanptT0Y5MHdHYmRCcm5kV2RJdWU0MnhtMW05bFY3bncrVG5TKzd3d2N1VEJNZFZHT0toa1dUVnVGRzBnV3FZZVI1VnVtVjdBZzNWcnNlR08zTXpMTThUekx3TXQzSkdXRkMyNlJhUGxrTm0yNk0xSGJHVkQ1T2ZINUh0a0dhdzJadjAxbUhXS09xRVJ0VkpiQnFQTE4ycS9kQjZxSGFkWmJncFhWdmpoMkFaWE53VUdqb0licEJCaUR0VEJ4bjE1VmY1TVBuNWNuc0VySkttRDV5OHdrN282aVRHOGNqU3pUbnpaNWgyTFhoRHRkTDZOb1AxU3BrckVSaDNlSlN5UjNRS2pPNFlPU2VmOG1IeTh5VkxjTVpTSWtveFhIVGhZUmtuOEg3UGVkSjdLQ2IreU5KdE9OTkNtSGIxMkxFakhiaUtKcjlRNWh5dnRqdkhoUWZGYThDdHV0THZqL2d3K1htRFdTa3B1RHpuWGlMVFZmWUFGQThKQ1E3dHRabVk0eHRqRCsyUnBlczRzMTZZZHJYc2hSVmNacHZaQlkyTStYOG9Kc01xT25CaGNJUnVkdzVqQStXNFhDaHo3R1IwSmF0OG1QeDhQb2RDRlBXVUtOcktCWDdtcW1Ba05KcjNZNFVRb0J0M2FJOHNYWGZYUVNGRXU1YVo3YmRDOHpxei9jNDIyM05ZanBYaGFzWFkwS2hXT1BQZWN6RExCRDcrSE00MWc5S0h5YzluTkUycGV2Vm1TcUZUZEUrS0o5VDlWQVJYUFh4SjZ6RFFtU1gvN1FSdzM3ZDFiVnBpZ3RMVmQ1d09RN1Jyemg5T3pOSFkrY0kranlPQmwwRjg0VGowaW90blc4L1dpMDkyeGJzeExYeVkvTHloREVndEIwVEluamhLTUlvUG9sTkE3eUJSa1YzUThHenVCdk9jT3EvNUpLWHpRamdoMnRYeHBJVm4zKzJWMW1yS1l0SzdvQUxaeHdCZk9NYU9YYTJ4blg1SnE2MUE2WDJZL0h3Z0cwRzJsR1BDMHBtdHdzREdyd2dWZFVLN25rSG9zT3haY1lMU0xYdGpKVVM3NnA0UERkT3c3YUZVQ3ZzODZlaUtVdm1wVU51SHlDSWZXamQvSHRWY1N6K1V0S1FLSHlZL1g2aWJoY0pXRU5tdndOMGR4UW50ZWIxMW5VVkdVdkFKU3Vmdlh3ZG9WOFh4T0VGYTMwTnBaUSszNVBWbGxvRGR3Mk0za3lpL3N2dE0xQ3pGbDgzdlNsRDRNUG41VUQ2Q2JqUVY2R0pnOUF6UWMvMjQzSzRYblNuUlgyUWttMDlRdWpuZit1ZHIxNnJ2akc5NEhzcXB2d2hNWGxHQmtyQVAzZVV4cklDR253YS9acC9ITGFUZWg4blBoL0F3TktPcEFMaWcwU2hPNkpyM2ltemUxRE5CNmR3d0tMK2NnWUVsTlRYdmg5czZub2V5NFJPa3Nna3R4QjFLUERaREc2VFNMVUlnRE9UMEhKcFUwcElLZlpqOGZMRnVSbElCZEVHamtaeFFGMjV2a1pHVWZJTFN1V0ZRNkRwZnV6cStnZXg2SHNxY2IyS1RWMVNrcE1uMWM2UkZndW1tQTVOZER4aVpra21uZkpqOGZMSCtSMUlCZEVGSGMwTHJ6bmFndDhoSVNqNUI2Ynd3S0RxVWlYMHVUNkMrSXp4VXVtSFFLRnJ3blZTUFFjR3MzTzcwWXE4Rm1aeHQ0OWp6UmxKQkhzWElmWmo4ZkRGdUk2bEFFMTNRa1p6UXBtTVAvRVZHUXZRSlN1ZUZRVU8waS9rdlRzUk9HRFNLWUZMZVQxekRHQVVOWVVMM3htQ3hnRExqa3ozak9RcEZKUEJoOHZORmVPRnRPU2pXQUttNUN6cVNFMXAxNG5vQTNIRm03eE9VTG5ISGNyVUx3aGF1c0VrUHBjRjlINWRxakJ6NGpuZzhOQWFMeC9BeGFueTZGUFQwYWc0ZkpqOWZVSXBSVkdCQjNvWVJJcUh6VGl3YmJzQmVwcnlUazg0UGc0SVllZG8xNjYzd2NKUGJEb01DaTFiQXRrZm1CYnVWY3J0em5DMytQa3FJejl2dHVLd25sL05oOHZNRmV4NUZCWVFMS3B6UWduSGtSV2R6dVp2bkdrMU91dFhrSnJlbFhaOTk3L2xYY1NBL3UzSCtPb1hvdXUra0pqMlU1dGpQdnFqT3hMa09tZ1hIbGx0YUlMZk1iUWs2czRjRldpblN5cXZ1WlEvL3laSEs0dm5kYjJnOC9KWDdkc25hRjcrUzNmK2hLUHJZc1NqMVlmTHpuN2RwdDRiMHpCOS9yVmRpWi9OVTRJM3hyNTdZOUppV0xtaXFFenJ6RHAvNkMxNitiNHJnNDVjbWsxaGtXRlVpV2JaMHNvUEt0NytHc1lmLzBrUEthTmRQTWhaelV6L0xMa1FDRzI1WVFkekZHQlZISEJmN2ttMEU4Wnl4ZHlZMUwwekk3YzdubmNJaW1YVnVRUEE5KytNaXpRVHRVcDFmNEZQN3B1bURqSjFEek9vclRNbnZ4ZXcvL3ZSZTlyWWxOWG5ZTUNHWmw1OUorSlNuN01LN0U0WjdyZy82Rm5ZcitRMTA2WUx5cDgyY1JROHdydm9CTjNCQjNtbzZCTGR0bitkZUwyNHUvMzI3cWZkU09RcGFXRHJCL3QxbmpEWE9ZM2E1NDNTbnRXdUJmZU5tcFkrQTE5OTJGUDJ0dXJlbmx2WnRXT0piN3QxRzRjMWZSNEpFQnNERDQrSW9VUk5ZME9TNmphN0NibUFMUTdZTUgzYjhyZmU5K0ozc0tkMzkzN0hMNzRrcUg3SHM4Uko3YmgrYVBCNDMyRUEwdFdIQ0VpKy9ydWdFZFJSVlFMZ3RsVW1lczFWZ2piMGY5c21PM1diS0JSWE90N2NoYytZN1REMzNRUVhsRElGVStoaHVJTXFXamwvSTV6RDIyczNPUWVVQmRyRm5YNW5Xcmo1ZTB5b016RVc4bUFlVlh0YXMrWHZoSlIvODRBZEJ6K0gzZzE5aW1Nd25SN09wSENWVkV5REJXQm5wcU1TNzJBN2ZZaDVnb3REUlo1Y24yT0J4YldFVzJmaytscnhIbmlGWnU5ekVrZ2k4aUFGUHdNYi9IWkdRdjE2K0xTMlVwb0ZKTldGVWRXV2VCZTNBd3pvYjZnYXBWc29GRlJmdU9xRkxQakhvTjdPTmFrTU81VytITy92WHNKRUVwdy9zS2M2SmM3YUNGcGFPODRlUFpyOC9pakFNK2hiTE5rQ1YwcTVaTWVQRWJLODJpQ0w0MXcwWkg2MzdzNFVmQnNYYlpGOHI3MjY4SDduZCtla1J1ZHdRc1FxWXQzelo4eG1DaDcwcnFQNUlXbkQ0VnE0c2FUSnBWQlkwMzVaU1VCOG1MOS93bzgyb29LNUtPN0pscTBBTXVqUHZyR3Vnc1haQnhjc0VqbnJOSjZ3MUtLanRkcmFzMFpKY1pEaWlRYVprNlpBOStHTmJjT0poMEpyekxRbWxYVTNoa3ZUWk4rSHRiZXR2Sk1YS3kwSTJlQ1EzYWtHYlJWVlp2eEQ3NHNmK2FBeXJRck9SUzRZT3BQTStVN1BCOHV1bFhyNUlsYUJKM3VHdGV0cS8wUStqK3pDNStlUjdhVGpGZThFUVc2Qk1GYmp4SEpCdStGWkJ1NkFwVG1qeTNiTWU5SDlrZXV4YlNJRWpkMnhxMGxJbFN3ZGRWT3JzMTdFbmJscGdEV1NKSnJWclJtTGVaUmQ0K1hWdFFYMXBrMkZRRER4dEluZjNlUFNKWWNlSFhjS1VYQnZnZzJNN3BTcWdDTGVSOEFBT2QwUXErQmZtN0cxQjNGWUsxRkFsTUxPejUzbGxUUS9JQldWQmZaamMvR05hbzdVa21yOHVzUk9aS3RCQnplNDVDb1pXN1ZBendBaXcvY2h1SlJaeWF3TGhCbGhhMExXZXArZ3d0bWRScGlUTGxRNDcrSGt4cmNzdzZKbHRGS1YycmNzNXFDbGV4WXJWNnhKZ2hnNGRFWUhlSC9sZ1dVNGNHc3hVZ01XdzR6QkI3UlhJLy9VYTdhc2xTMG9hNkQ3eFdwblhrWjl0cXVVc3ZuUEg3ekdvN0thaW1wZER1MkdXSEZKQmZaaThmQTBIdlh2QUhIL0hMYkZ6bVNwUTN3TFNVMi9hc3I5R2lkNjM3WVRPcHBoRXVGS3J3N1ljZWxqVTlWVGZJcFBKY3FVRHBpRHdUZVF0bndidDJLdHVxVjNOQTlFNVNJZWtkZVdLd1lwNlI5VEkzeFFQQll5cVM0T2tjaWtPVUNVUDdDSDdBUFhBSThrMnV4bXZYVkhCWG1DU3NCelo3VUd2WkdPY2dybW4wRlFsMEJLVWFnQ25pclYzVWNjQ2ZyV09yQjVzOFVPY3l2azVzOXcrcHdJeldTcXd6RWRNaTdtT3YrV0NKcHpRRlh2S2xIMnRPKzF0bFVndU1uenh5cFVPdUxjbG92SnAwRGxiTnFsZHNjUzNMNnpoaTlSK085eVRFMGUrRFhmeXdqcTRyVnNPRGMvWUlUV3ViZm9uNEtYcnFpQXVhZ0I1eHpYVjZzeWQ2S0kzSVZOdC9Eb1h0KzcvK0N0ZHlXSDBLWlVHVXJTZ29LaldaQ2t5QUptK1hGeFJ3dUhENU9hWDBrWmE1dU5PV1Nwd2c0OGhQWlI0LzZDVEJ6S0JwelpJdjIzeWJTL29oRFhMQmduSVZkV2FHTkxKUlFiUzIwZTUwdkhoTFQ2eEo1OEdoVm5hREhlaFhVdHFPTllsK0IvZEZCTEI2bXJmbGcyZnN0eHpDaUNqeksxZlBub2ViakFlOWp3VnlteEc2MXpMKy9aR2wvTThsSXphUEtlSmVTbGMzTGFzcmd2L0FLNy9qaXlCVTR0TEJBcDZxTXFhQTU3eVlYTHpjd3BkMVFyUEszSVJacGZwZEpZS3JPQ0lnWW5QR2ppdUN5b2lvVloxL1VBek5vbllkcUEyOUVvUU5OZmxiRnJvVkxuUzRVNlBkS1BrMDZDZ2t3UGRtZEN1T1JVR3NVd01Kd0Z2VUtxcWJBRjMrY2cwRmltSG4xODVXcjRsMU9lNGVHdWpEWDI5MHBOY0h2MG9jTlUzNjhXZ2c2LzlSNmNENkZYMWVJOFl4VDNuMnVEaWQxeXJlcnJMR2Znd3VmbGVpZ1dENE53aGI1cjZrNlVDblR2UUJHdzludlF4YjR3NmxJSDZXb083WXRrajNTQnFjUTlHNWplTVBVMVpaSmhHSWxXcWRNQ3lvZXkzZWhyVXVUaCtCOVNUOXFDN3R0dzhGSDNreUpmbW9UZzMwYUVlT1RQNmRtZGJtdzVRSjl0S2dDeGdIU3ovZTUyOXpKTVBxa0VCeGZIcUw4VnowNmdzNURyaVNtUEcva29RUldzQ0hWaEtPVEM1K2U2QnBJNmlSM1ZxMXZPZGRBVW1zbFNnZXd3RVBVY3VtTlNWaGNIV25oTzZhZ3g0Wlo5WDQwOU5PVE9Zc1JRMFpaR0JGUFpScW5UOEd4dmJnbjFkb204OExTam5tTi9ZRWhRdzlHeTVVeFRVZnhvVTI1bUpVWEFwNFJkVkNZNFU3ejZQZVh4VFViUjlQeTFhdld3d2M3ZG1QZStGRzU1TjFWcWM2NWJLY3JWNEZzcHJJTm0vSDltRXJrTDZzRFcyRkswVkRGcHdiSjRpa09jc0ZmaGJGQkVHMzc3ZHBvRnltYU1KRW02cjdMeFJYbXNwMWJ5ajZ1RzhZUXh1N3RPZzJjT25zSFRvQUt1eHFxNHB0cjBNNjByNERwSXRONTlLbkR1UjZxSEVadDYwTG5xOEpOd0JQQVpGdWN3YWwrVFVudWM0bjdrbjI1YkNMYXJsdnVvRG8xc3FMYzlRc21PS05vUi8xb05TZHY3YWZWTUJac2VCeWNsWGpFZzlFK0diOVIxc08zRDhUK3pYclNoeVN1QzRZVFFLcFZoeWZlbklpWVQyMUtvUmxuem1rbXZiUm56NzI5eWRsRVVHVUU1TU9nd1pTU2owMDZET1BPNW9GMXpZd0pLYnY0TGw1Rk05RkllRlF6NTZCbTR4SHE0OUQyQlhaYmZWRWJ2N3pkQjQ0M200d0czRlpkNTNEYUhTMkZkT2hjR3lQVVhQSDlKSHAwRXU0ZGkvN3FzcTJKeFZTWDUyOGt1WHVxNXJWa1o4UDBoWEZBd2MrNjdZdkRzK3VJUjZBTFFIcWh0ODFFSWQvV09WZ3JQMThYaXdETTVZRTFRVkFIUFljV2d4NHNsQzBtRVFTTjRJOVRRb2hFNHNSOVBScnA0Zk1YS1FodDVUUFpTRzY3RDc4bzZVbDRob2h6S1VTZDJGMFczV3VRTzZwVmtheXlLcHdFRHF1eXFLVUJWUERBL1FZSzVzY0JQNWNhNlUxNGZKeWQ4d1UyemRXRHIvRGZCQ2dXT0lFbWl6aU9KNUxxanJoUGEzMUJYWWI2QXBmNC9Yd1lVcEdtM1BWQUUvVDA0NjNJYS9JL3FhazJwcFZCYkxIZTFxTy9jRGFoMmtJWi9xb1RnNmpqekxPRTY1Q3V3V1pMWEd2dnI3MU5FQ0RwdE8rKzRnaW8wT3RnK2NTdlRFekdKV1ZBRjRub0p5RFY2S3VYQkFmaVRvZkppYy9MeVpCaXh1RzY3WEdFVkZBc2R3R3dhMjhKNEx5aGQzZXFwb25DalNEV3RHY3V5a1pVSFRGaG5RZm1MU29VcnRDZ0UzbmhGbkdBM2Fpa1J3eDZ6NzFEY2pTZENDeFpUM1FPU3J6cFFueW9ERnRreVZlRUxkOFBVbG43Mzl6Mmx3NWNycmxnM3JXN2dzMzVPNS9xN0hyNXBZVmFGWHVtK293TkFJUy9NZVNQRGo3YUxTaDhuSjkrNG9EdURCcTJSMHVxMlR5VVRXSWdtcFR4M1hPT0dDY2tPaWJuTEY5TmxSdGdxQzQ4NWNzYUtITFZndlN6bVNrbUZKbWRMWjE4SURhTURmblI4YzdXcjRLdUV2VDV1ZXd2SXJjRmp3a2pKK3prQURDditIVDllYStjQ01hV1VVQW9FMXRHeFBZOGNUczVwUVVMajhWQVdOSHE5RERSNzduSWNQazVNM2xuckpXcVNZaWRlVEFyTjVLZ0NUZzkzS2QwR0ZteXhkWDcwSmd6dE1OMVV6eSsrQUlxT2c0TlE4cTJpR25jdVVqc2RFTmtWUFhTa2QzTGdEMDdldFhlQ2RHbitKa3poSVE0bllTekd0ZWNxYmI3emFVYk5WV0xKSXlZTlpWSXlQbC9MVzNETGNWVmpseVJuWFdseEwvc2twSGkzb2lla2R0RnV2b2o3M05haWZjdTd3WVhMeVpyMXMvOU5hdkcvNEpsSjVLdUJGZUJNdUtFNk1TbklyWE5BMUlRbjNiOUJNSEJRazMwNkk0eFdVS1IwdTRoV205VVBSVVkvWnQ5SFdya1FZRko5Y2RwUWsxVU9SejZKNGx6RnVGcVpKcVVyaG5CYlZ0V0lUMUs0dHUrMHEycFJZVFJLV1paRkVvS0RPeE1mVjJUYkNMc0Y3KzlDQkdOQStURTYrZFZNSk1XdW0yQVZiVWxXdnp6a3FBR2JPZ1NiaGdnb25kTUQ1V2RFMDg1eGcxRHpRblVGaVE1dDJHSVBIZGsxYXVrenBjQkdrWWw5cXpEWWRwYk8xQzNEMTdEdTRBNVlGd1pCQTBrTUJ1N3Vidkk1bEs1RG5KbFBDZXNubTNQVHZwSlZubFozYTBxRVhlMnhUOHczZHJycWlHeWJrSW9uQXhmVFVCbGZ4ZTRZRktLZ0NreGQrRjFUemhBY1RlbEVHdHJOZHhXSFJBTFdlNkYwUjRUbEhCZHc1TU1VRkZVNm9VR0tycDVicDFBaUYvZlYwL0tucVhERFdKWTh5cFVPTElhWENDWTRmanFQcGFCZmNvVzFKSkU5Z1U2MGJCTUM1NFExT0JWcTc1YmFDWEtIQVdhSTFGRURQbnJ1UlJ1V1ZOUVpXQVdyWFRTc1BZVkRJZ1pLSndrUVlGTGJIWGRkTzdJM3VHQmJROWptNHRGL1dKUzI1V1BGZ1F1RU5iTEVXWXQyb2Jkc3hnWnFoVE9Tb0FHalJsdFVrNllMYVRxaCsvQkJlU05hZDZvZG1CWnVxeHJycFdDK3JFeXRacG5Tb29QSStxekNvdTRoM3RLdW5UYzdDcmhBSTFwM1dEY0piZU1BclZvOUZQZjRDUTV0R1ZCUUtuQmxlSnRWSnRjdW1QaTIxeXZhdFl0QVNOeGpEVjRsZzNFUTBJeEVHUmJWeUdBQ3YyRkdGS3A5YTlVam5XNXJIMktNSGs1czNnNzZuYkFRdzNzWjJ3NDRjRmVnS0xmcklrV2pmVGh2SklMa1lEaHZhYmFrWUQyTkZGM0lXcHlwV0Rvc01PWW44N2pEWmN1MTdJZW53Tlg0Wi9seVU1em5udGpuYTFkWURYNFZHd01CdVdaS0NoN0xMcy9abjh1QytubGcwTXZsNkFDajlDSGdlRkI0eTFiNWlrdlhRa2g3WU4zT0ExdGlyUWRqQUhrQWxYSkdZcHR0aXFCbDZyR0tIVmg2U2ZXVnZlWEdiTTF5ekxqY1c1dGlEQ1RsdGFVWkdMYzYwL3MvNkhXbHFuc2hSVUxuUjJkZ1hyVkpjVU1zSjNkQ2pZbDBPVFdoVms4b2dHTUR5WHRsV05lSHFiVWRKWVovS2xBNFhTWEo4cVhYYnFXUEVIZTJDMnlFSEpiK1hLSlMycVZ6Q3FqS1c5UzJlNXord01ONDB1WkpTajR6eWRhYldRM2J2TURrWTNjQUtJWFJObXNuK3JrM00wMmVPT3Y0aVlBRmdXWG9NVGFIUm11WFoxcVI1ZEdGeVlkTmVFUmp2TGRubnFRSmE1cjFUdGdyQXlFUDlVanJrYjhRTFhtQkxoTlp0Nkx0VFU2b0FsL0NzMDZOK0p3a3dFL3VPK2dGTWgwNWt5cFFPbjN1UlpxVjZSN0J2S0pQS3MwSzdLay93akhrRW9YRW9pR0dOTlpBcFBMV2xMczdvaTRaQ1dGcFpKQ1VsUVZjS2F6MzhjNExUTzl3aTV6NEl5OWVUczBBaURNclZVWUtFZkhBSEJwWWpGZ3NoMUpxbHMyMEpqd3NUTGswSFdwUllXYXVtZHZFcnNXUHJOYWxLWkt1QVhNdk95c1hGZXFxeXc0MWxsOGh2UlJscjhNblZ4UDZZTmNhUVJyL1ZDZlpLUkpLclZrQVpLZXlqVE9ud0dVYTU4R3plNUozQU1CNVl2UW50cXJHM1F4bU1URW03ZG5Fa2FlclczY0FMRVI3S29vM3ZuTDV1aSsrWVNYQjIxYVFUenVreGhiOXNBcmZvR2F2MXNyaVJjTVVJZmpJTXl0VlJLUk1hU3FBQ0Q4aVVnSG5CNjE2enVGYlpMcFRnUEhYQXorckh6cDlKcnc0WGJUTEs4SWl0OXFxTmRjNVdBVENPZUM5WEpFS25hUzRvZDUvNWlGeFhvc0g0a0V1M1NzUFQ2YnFjQ05EWWlBdHBIVnZpZU1reXBlUHhCc0cvZGNqUHAreGNLUi9tdVhhQjB1SmdBK21rNHEzcnU5SjFvS3pMa0VESE1pc3dSRzExNVoyTS9kTlZ2a1FSVGkwN3lBUU5HNjZXOHpBb2QwTFI5Q1REb0h5RVNtVUNna1Z1b0V3WW1XL0I0WFd2V2RmYmtlYkpoUW5uTFlOUVhacXJMbnRLVFVDeGJBYmNVbzlzRmFnS2NFN2xtRGd6WGRuTUFFSnVpdWFrdUdCUzY5STgzbU9OT3Q0a2xpS0NPb2dSSndlenpjK2t5NVNPeHh0T2hCRDdlQUlyNmV3ZmN1MkNLMFp6QVNOVEttWnpHMm54ME45dTRya3o2Y1djSGZLcytPa3B1MkNWalptRW1TYmRMR1R4WFhBOVR2NlpOL3VKT3VWVzlibWFKTU9nd0x2R2pPWjB1UFdGUi90M1ZLY0EweDZrd2FvZXFhSzJkRVJjbUZ6WSt1SmE0T05EWDhUNFRCVjlWOTZjazYwQ3AwS0FNeUhZR3ZzR044NHNjMjI0cVdoandleHN3V2tHRmlOVmRyRVB5WVZZR1V6STRBRnJPcnd3T01DbDJlSm5xUWlZVGh4bFNnZk01VUp6UmppSzk3Q0xUYnRIcmwxTjRaMTAxVDZSK293REVPcHZOL0ZHTGFIQnM5eTVVV3c2Y2x5cWZBbm5qck5hQ1dUWTVRYkRJbTY1YXE2bXhDcGYwU1REb05BU0RJaDJDaHE3eUFvR3RQYkc1UEFFQmVWVldOMlNTTGd3dWJDZE12YWZSNVVmeGxtcXdkanJqcGEvdzdYc3lNYzdzbFdnelIwdE5RV0FUZzA5VURvUTkvTE4wWHNCakFIRXVaOStjL1RUSU1XSjB5RmNwRlFLY0swT3NhbzJ3TjhoUjVuU1FSZW5mQnhGQzl5OVhJN1pKNTF1dVhiMXVlbWNZYStTUHVnanhuek5xVGcvYjlVVkN0cCtxODJqcVp3Y3UzQ3M5RWd4SnJBVWQ5eGU0VWJJZFFRdlYzNEozQVNZRkh0YTc2eEc0SndwQjJoUnV1RnRiZTNBRWRwRldyamp5akF2QzJ4UnMrMmUzUHlHMHArMzhwZEZlRzRMR1EwL3NsVkFMQ3ZtcFVOenF0aW5uVkVSVmZuRkpseUJPTXo5NVRJc2NJM0hKUGdCaDNCYWNxMFkxbGhIcWRKaG43dzNFUWJ0K2xNbjE2NHVOMWh6VDhNcTRBZ0VxUWpqd1VXQ0QrVllvbFY1Y3pzUUNKVXRZMUFzMG5HU284U1lIbzloaVlmUzYrTXRlRE0yZFRicWJvdTBXT3UwRDB5TlNZRUpsWU92LzNaUnVoYXJkK3RhRWp0UVVEVWpQaUltUkhSUGJaamN2RklMdUEwOUZBa091UlkxL1hxcGJCVVFMd24zYjRwR1o0SmwrdThBYUdxeTZxMDgwTXN6c3FucWRWRVBMOEJtQzBwUDBUY1llcFFxSGZUUzV3anpNT2puc0lzOXQxK3VYVlgyelZEYTJnYmZmaGNTSDdQd2c3dXhhVm9zd2pRRkt3QjNNUkliTDgxUWpwV3FNN1pmak1IZjNNdUJ2L3d6MWV6ZEwzbXBLUG1CRHloVzlXTloyY0p4bUJJR3hlcStuT04rU2t2d0lsbnl6MG90QVpLV01FSExEV1UzWFppNGxkV3dWV0l1Q1dvK0x1VHg4QlJFeW1WTzJTb3dpd28rSzAwOURwZmhCeW9hdU5GNG9KbHE4bFJpZkt6b0tRR3N6UUJ0MnA2Ukpaa3FWVHBnRDZqc1JCR0dRWDlHdXNCV24xeTdWdGwvUnRFUHdSWFBzcWVQS205VVpvR1RxZHZDTXpBRjdsVituSHZhbWdjNE1FYzZVMG9DSnV2TUVaelNpUUFlN29LcVUyWURLbTdLc25oUEpqb0lRMG9ZRkt2WDRMM1BEMzMrRjc2VGZaMGtqbUJKdy83c0YxNzhtNHg5dnloYVk1OWVpMzl0UDRyZ3pmcERSZVhBQklWMi9wUkxkN2tKeFVLczUxU3JZZWRzRlFCWGRuTzVMdGU2V1M2b01OVlNoZjhGT3BQRy9OanJ0Mk5pRG8vQWl2ZTlaM0wyOE1oVXRsVHBrT2xiMlBrN291WmdCajVsL1ZlcUV3T0xyemtBQUFsZ1NVUkJWSG1XMnZVbWR0SGcrTVA2TW1iL2JSTzVFL2p2NCtmQlhTYXIzS3JhVGNaTmQ2MlZjeUN2TS9pUXpmL2NkMXRHVktCUms5MitkZC8vUUpHMjd6TjZITUU4L214YUdKVDN0WERHMWVuZnJZNUJOL0g0WGxtMERPb05qOVRmaXZrM1YyV2hDNVByOTREakQwUG5FQ2xoQVEwTDBoUFphT2dwUndYK0NENUovdlNSYUkwN1JzTVBQbUIvSHV0L2paUERZR1BzMi94K3JlVmxwYzRBUmNuYnA1UDVjcVZEcGpBN1BkeTRQMlpQZlkvZnBkS3VILzdFK1ovenVnZmlYeEVKUlhucUxvRStFcCsvWDFXSjg1eVpIOXlLVVhNUVk4bzFNU1B3WHRCaGZCaVZUNm8xY0pKUjVWV2Z1UGlQTDNMS1ArOE44YTJ2MTFyRm4yWjYvRFhzMW4rOTJWQjVNTUhTOU1CVUx0eDc4WW85a1gzOHBSZmZxamtaQ2krVm93TFJBeWwvb3VDeHNMTVBORzY5VHVRcnZ4SGYrcEJkeGROMXkwbGJlejM3MXMwRWhWTlFzblRJKzkzb29yM2MvZXNLM21lK2RxM2tUYmM5TXo4NGx6RnlCbWJnbXlNM0h0N1EydjJxTTZiMkNZZlRGNnZ4WWZMenhiamxxVUF4Ym5uVUVBWTl5cU94NnljaW5maG9uOTBOVCtkckY3aWxpVlpPUVpjZE8vbHhNN0NtMExadVhGNTJlLzdSTFZGd3l0ZzdWYVRJSmhrajdjUGs1NHV4bm9nS0RCVmh0ZUNNTlJIcHJLOEgySUxtYXhjTUw3dEJNdDNRNjkxazNTZ2xFRTErYUpSMmVXMnF6Mm9LV0ZqRWFXRlFUVkE4NGNQazU0dHhuSWdLREJWaDN1eE9ES1d4S3lZaW5mc1duKzR1UUx0eS9sSitwdXcxRXN5LysxcStFaFBOYmMwTTE3VUhPbGRPd29mSnp4ZnF4ZnhOUTZGbUl4SlhNYlJVNEppSWROYlhBeXhSUXJRclIvd2JlVDZxMVYxSUVtSk1icGcxcEZFSWpmMThEcXpVZDBQYUZLRHhZZkx6QlZoaEdIVlFpSDQ4NGo0N0tjUmdJdEwxN3FUSkVLSmROOWd6YVUxVldhL2tGUTNFbUE0VjcxTFAxa28xYWhjUFpPWEo0c1BrNS9QYXUvV2YySFB6azh6Wm54UUw2MmNTMHJVSGFYMkhhRmVPL0xWeUoyU1lmU2NSWThMdENzdE1nSis3bVliSEdHVStUSDUrRE5ZVGJqcWJiWUVtM0x0aW4vNGhpeUR0eWlTcTVDM3lsUUNCNXduRm1QQ1ptVU1qd3BMWmNqS0ZZNlo4bVB6OG1Pd24xN3hYdXJzemlxeU4vWlJXWWRvMW4zVUJzK1ZHUVRIR2RKUWk2YmhGZndpN2FNOTkySERSbStpbWFOeVVENU9mSDVmL3hOclhpa1ZCSnlPSDlRVXBxNE13N1ZyTFdnWlZiZGZPWWoxaUV1WmUrVFJSTG9QS2wrZVNhQUs1WVcxQ1M4MlN3NkRRa3crVG45ZkNYTFBFVE5rN2dTTmQzNUwxZ0pKaEVLaGRmZjBJaG1tcVVvbi8wVlVWbzUwTHhKaUs3QVd0TS9qUG1kdHNXd3MxTjRGUXF3K1RuOWVkWDY5RTRwK1lweUxlalUrbmRSdW9YZlBEOTRvV3lnMnFGNGt4OVlvKzhaU0dRSmxsUGt4K3ZzeStTdVRWbEU5bWw4aHlCRmJ6YWFHaVVPMmFHYjdNNjlscjR4SGs4cG8wQzhTWWF0dGU0MmxuZlpqOC9MVGxTKysva3VYQXBUZVpSR252SUlWcnNIYTFoeTVjNnFtV09hV3ZvQ0tJTWVWcy9CczJNL2FxM0JSUE0rWEQ1T2VuS2R2UXZ1ZXVCNDd0M1JRSmc3VnJkZGpHeG8zaGszOUtmN2xGVlRhc28yVFR0QzltSmFtdXRNU0h5YzlmcVRDaG5mVW5FM1lPN1Y3UjlYZFV5cHdMYUZkdGlHSHJwcTY5VEJmRlVvVmlUUDFTdXk0bTZEQnFIeVkvUDZ6ZEZNdFhTOTRJSFBWU3Zpd2x1RmhBdTJhZHQwQzBFRXRaRVZKTkZaeUFZRkJvakFsZW01bk1qbjJ3c0dtRVBreCtQcTNObE12YVEwelBsTVhDN2d0cFZ6YzFidGdwZDNwb0ZYaU9xZW0vWTN3TkVJWFhDVDJZL1B5MUVOSVdZcmxjSDgxbVBYYTZrSFl0cGUyNFY4cjFyK0dOcm1DckNPOXZINCtOUVBrTWZKajhmUGs5anNteFYrb2lkMHhoM09ZRnRlc0xOdDNtbUt1bzE4aVNWYU9VUUl4cEs3UmRFV01ieXJNTU9oOG1QMTlHSDJYeWVFL0tiUzJUL3hpOFN0YXVNU1NSVFl2RW1INEtYbzBjdjBmaVFBZ1VRS0JBakFsZjc3NitjMU9CYXliU3V3Y0I2N05JZVVJdk5VQkJuODJqb25wQ29Fd0V3bU5NWEQrdlNmaXVUQVNJMTdWR0FKWTlKMEVDUGg2RC9iUy9MQlBVaW9nSWdiRVFBTGZTaXlHbXM2czh3TlZ6QWsvRXAvZEhwWVFBUjZBWkZHT2ErVEYwUC9Fb2Q0dUFiZ0loa0kxQVNJenAwWC80YTZHYytKdjIrR0IyRjFSTENJeU93RDN3OWZhZkczWTg4U1BmK1RzdmVVTnN0Qk5TMjZQM1JTMEpnYUlJUUl5cDRIRll0QXVpSndSR1IwQysxRlpBU1ZPZXpocTllMnBKQ0dRakFER21Zc2YxZlVncyswS3A5cTVFUUg2WnVvQ09YcmNYNXU1SzJFbm9VQVRhQlZSVGtCNkVzaVk2UW1Cc0JPQmJta1dQcmJFN0pRYUVRQ2dDTTNGUi9TejkwMStob2hJZElVQUlFQUtFQUNGQUNCQUNoQUFoUUFnUUFvUUFJVUFJRUFLRUFDRkFDQkFDaEFBaFFBZ1FBb1FBSVVBSUVBS0VBQ0ZBQ0JBQ2hBQWhRQWdRQW9RQUlVQUlFQUtFQUNGQUNCQUNoQUFoUUFnUUFvUUFJVUFJRUFLRUFDRkFDQkFDbndFSUxKOTlYY0JWVk03Q1BuUWJ3SXBJQ0lFaUNGU0Qva3IyNzhyOWQ2WWlBaEx0Q3h1QlBndjQvODAzTWxMUUY3YWFUTy9xNjdsZkFYL1gzLzhGZk9QaGNIb2lVczh2WkFSTzgvN2VjQkcwOHhXa29DOWtIWm5xdGMvOFlFNzNpN2RmOFZ2THBLQTVLRkgxVkJFZ0JaMHEvTlI1SGdLa29Ia0lVZjFVRVNBRm5TcjgxSGtlQXFTZ2VRaFIvVlFSSUFXZEt2elVlUjRDcEtCNUNGSDlWQkVnQlowcS9DL2N6dGRlK3ZCaHlOV1Rnb2FnUkRSbEkxQ3BYNTZkYndad0pRVU5BSWxJU2tmZ2thZWpkVFlJWUVzS0dnQVNrWlNPUUgwcnVzSCtMNEF0S1dnQVNFUlNOZ0lMNTFFMHg1N2tiSDg3NVU5cEx2WlVqNlNnQ2drNlh5RUM4LzhiUlN2c09kNWo2ajhmMzFUQ2tJSXFKT2g4aFFnMFFRR3I4bkhRQis5TEhpOC9VY0tRZ2lvazZIeUZDRFJnQ3E4eE1LTzVCeWxvTGtSRVVEb0NsUXRnR1RNOWoyZDBRQXFhQVE1VlRRaUJtVytPb2pYR3dJem1IcVNndVJBUndVUVFnUGM1UXZpU2dvYWdSRFRsSTlBTGV1azRJZ1V0SDNyaUdJSkFrejBmUWtZS0dvSVMwWlNQd0JrN0NHRktDaHFDRXRHVWpzQU1ZMXNoVEVsQlExQWltdElSbUdWc000UXBLV2dJU2tSVE9nSXIrcnMzYjB4dUpOMUhPMG1sQTA0TWl5Rndpczh5TGIwTUd0RmVmREhraVBwS0VHamhHZ21mR1lsU24yYmFVVUxRRksrUW9QTlZJbEJoK0dHbXpuWnVuNlNndVJBUndRUVFXR0pzUDRwYTJsQU83WUlVZENnMFZERkJCR1laUEMvQ254bko2UVMyN0E5elNLaWFFQ2dkZ1ZWMkNjL1VmeXFmN3lwanUvbFVSRUVJbEl2QU1rYVp1b01jcHU5NzF5L1ZHSHY2UnovL2ZUbUVWRTBJbEl4QS9TSzZjWDZVelJTbWQzVWNabE5TTFNGUU1nS1BzSDlqbjh6aHVjWXVidDkzLzhmdnV4MlRINW9ERlZXWGpzQnYzUDZhMG5rU3c4OElCUDRmT01haXlmNjRkSWtBQUFBQVNVVk9SSzVDWUlJPSIKfQo=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nUVY5T0lEMGdYSE54Y25SN1hHWnlZV043VUgxN1RuMTlYRjA9IiwKCSJMYXRleEltZ0Jhc2U2NCIgOiAiaVZCT1J3MEtHZ29BQUFBTlNVaEVVZ0FBQVowQUFBRElCQU1BQUFEQnhTRmhBQUFBTUZCTVZFWC8vLzhBQUFBQUFBQUFBQUFBQUFBQUFBQUFBQUFBQUFBQUFBQUFBQUFBQUFBQUFBQUFBQUFBQUFBQUFBQUFBQUF2M2FCN0FBQUFEM1JTVGxNQU1wbUpJa1M3WmxUdnE5MFFkczMxU3BGMEFBQUFDWEJJV1hNQUFBN0VBQUFPeEFHVkt3NGJBQUFPWDBsRVFWUjRBZTFkVFdna3VSV3U5diswMjI0VG1IT2JDYnVFUGFTZEhFSnViVWdnN0tuN0VuTElvWnZrdEJCb2t5V25IT3hUVG9FMkN6a01MQ21mNXJDWE5vRWNGb2R0bndKRENHMUlMb0ZBbTl4MkJxYWRtV1IydkRPenludXFrdlJVbGx5bHN1eFdMOUdoUzZWNmt0NVRTZnIwUGFuc0tBbzYxSmxidUFqYW1xZ1N1NW5EQXJlbjZtaE82UGE0ZHJmUTdXbXdyYkFIaEtOMkUrYVlJWER4NFZlQksraW9YdnpDTVVQWTRrdnN2MkVyNktqZGF1anpsYU05Qyt6Y01VZlk0dXRzTzJ3RkhiVWJzd1BISEdHTEQ5aHAyQW82YXRkNjdaZ2hjUEhwbDRFcjZLZ2UrOEl4UTlqaXkrdy9ZU3ZvcU4waU8zVE1FYmI0Q2pzS1cwRkg3ZXJzekRGSDJPTC9aM05odjUvaHl5djZyZWdPbjh2UHZuVjZSU2JZQkFPYkcxOXgrTHplQzFiL2pHSW1OcmY2M1VjZm9Fa3ZIMkI0NzNPSVhzNkxRVFkyMXdRYlRsUGJmelFGMjhSTnBqMUN1NjFhMk55RXNiZFMxN1dZc1QvSnU2QWo2MnpIcU4rUTBYWFErNHk5UGpYS2haWm9ZM1B3Umc2VnJtc3doTGJWYmNBeEM1dGJBZ09PaU5vd2d2NU5ic09OTnMxc2JoWHNvVlBhaExINW9FblQ1OGEyeGoySFhmSmtBUGZrTnR5b2hjM2RnK21hS3QwQWV6bzBJZEM0amMyMUFYR295bDJ3aC9ZLytpeWt1STNON1ZQNEFZV3h2NTJGcExoRkZ4dWJHMmJtczhtYzJGTzM5S0tZNlY1dHNHOHUzSTRXTm9mdzA2T3ZGT3pUNWp2NkxLUzRaVzhPNFljT0Y3VFBERlFoR1FPNjlMVlpUQ3FIOExNbDc2SUk3VlBMVS9JZ3RHaHMxbklkOUtlcWJzTDlCVTBJTkc1aWM2anFPQU0vYmJCbkoxQWJxRm8yTmpmSWRLL21uQXdmRzVzRC9lbW1hZzFlejF4NGhXMXNicVFQbHdXd1o0KysxMURqWS9NaUU5L0hPZEVadXQ5OGJFSlkyQnpTVVRMOGwrSDJnSmdYYnRUQzVyQi9kWlRXTGNaK3ArNUNqbG5ZbkE0L1AyWE1UUHJDczR5OU11bzBaa3llNmFuOUd1WnE4cktNR1FKSnRMRTVHUC9QZjhqRC9WOU9BVnJueEp6SXh1YWFNSDVVK01OdUlNMmZxOGFtNXBOUzRpTmx6TzkvOWx1Vkhuck13dVlRZmk1QzE5MmtYOFBNMFJCK2VpYjUwTk1zYkE3aDV5eDAzVTM2V2RnY3dzK1dTVDcwTkF1YkEvalIyRnpvWmdqOWxpdytkb0FmTXcwWEdRTzkydGdjd0krWmhnZHFoMURMeHVaR0dXZWlrQS85ZW8rU0FxWHMzTUtQaGMzTkxmeFkyTnpjd28rRnpjMHQvSXpNTkcxZTRhZG1ZWFB6Q2ovTDdJMmExRWhzWHVISHh1Ym1GWDRzYkc1dTRjZkM1dVlXZml4c2JoRlcxM1BKZmliYUNRTTVJY3d0L0ZqWTNMekNUMlJoYzVPeWV6M2YySkh2ZUJZUkM1dkQ2VUNlVEhUUnk3Ylg1MUxHVFdRTmJLNzI0WHVQd0J5Z3A1OTg4NSt1WmEvTWVFL0Z3T1p3WlMyQzg0YlBnTTMydTA4RG05dGdsdzlQUG52MjdPVFRoKzduUmVNWm41Q3pzRG5YYmlia0FiWm02MFFaK1BWSnRjdE9pNkpCYm5wdHlpMmVtNWJFOC9jekp3QzlGT3BTaUlYTnVSUkJaSEdQMWU4TEo0VVhpZHJZWEpHOEJobGNKYzMwdzA4Ym16UG9XaVJwZ3ZiTTB1bTl5STZMNkZsUXBzYStEZlowQ2tyZmhwaUZ6WldzcXNyK0RQYnNsY3p0STV1RnpaVXN1dnNGcmkxMlN1YjJrYzNDNWtvV1BUcEdHcmhkTXJlUGJCWTJWNjdvRGJhRlJ4aDc1WEo3eWRYMytUM0MrTXNJQWVqY2kyYmxDdkc2eFROOEUxWEFuc055cXZqSVpXRno1WXF1Z0FObHhtNHVBNXNyWnd2bTJzU3p6UEIrelA3Vzh1VTY1S3o2SEx6N2VEZ3pudW1aVEFPYmMyZ05YYlFXSDBIQ1NEOXpxb3ZjK2wzYjQrSmtnUzlFZ1RBNGMzUi9adnBrY3cyK0d6NmM2YTY0VHpZM1BjWjJidDNkTWNiZHErOTE1TThaczVwMDNjbWRmVEpZNCsybjJlU1R6VDFPVmhvRGNraFRxOHY3emNwVlhQREo1cHJKMGZuR25UbEVCbGRQdlhwa2MwdnA3a3FiM1pFRG9XYjRFd2ViL3RiMmZIRUFmYXBlenA3YS9SL2J3cTY1cHk0WUhIMGUyZHdnL1hJRDdiRm9ZTllyU1gwTTJTekJjaWlxYStnSEh0bGMzRXNVUXc5UDV6ck56YzlBTzF1dytGdEhobmJ6eCtZV3hVdkJiN2dPekRwZmwxcU5iZWF3UHhyeklSSGV5ejd4eCtiYUFzandtN3N6VXM4YVYvUThUYW13aHlmUFRnd2ptZVFvRnNWNVp6c3I2bStwMVQ5TXk4NDZSRGFnWHJVRXdtMHlDTUw0ckQ0TzkxTW81amdqWDdHY3RNeUlGYmhkazMwTTlUK2lPV3IzQjhTbnZmUWJXRC84NnBRS2xJcHZQQjlkUFIzdWo4M2RrNFBXY0c2aEFTYXFyajU5dlZ2S0FqM1QrT1BoVldMaWo4MjE1SGQxNkJESjlJUEpVK3BUYUhuNUN4ZjlnNG5xeGNMVWU5ckk1YWwxVUNjL1hJZ1MwdXNTN09pSkFMa1A5Y2Y5NzFOT05PenBUMHZkcmIyTUdsZDN6Z3hzcnB3OUszb1RaTXhsblJINVRIcTBWOG9DUGRQak43Z1F5WjRFTWJDNWN2WjBYMzRpQTVnbU94OVhvc0tpZllWSk5RRlV1b0tPZDgyOUNJSHVWTTltWUhQbDdCbjFWTUZ4OXBqenhsY1IvTjJPNDFSaUxkdW9LbWZ4MkRKc0tpSXdIT2haZkxHNURkcm1VNVk1OExqeUFqOWtGNHY3QlI4TzJTcjBBSnhJZHpSN2F0clh2OW9qdDVzeHhjYytIZnhZVGgxV3FySDhFbS9kaDdla0JtTVEvM2pCdWFhbk56WTNQQ1RsTnJQdzM3aUlvb2xjcEk3MXdVVXl1a2JqTEtENlluUExXajl1WlIwaWsvTUlCeEQ4WWhoUTI1TWsvdXZNZnlMb0NEcVUrV0p6NnpBNlZkalA0a0ovSjRwZ0ZaVHlvK2FSRWlVeGQvNkQ3MXp2dTNXdFhVbmhqdEdKMWt5RHJFT0UweUZwcEFWK3Vzd2E1Rklxb3haazBlZVdMcDJXTXNJT3R6VjkzZDdJNEJ6QUQ0Uld1dTF0Z3g5bi9zUC8yc1JyVFUxUGJLNnFuNU5yUTBQVGFnQitJSXpUYlRzdjhKTVVqMHo0TklrbXY1N1lYRGZiaS9WcUFINGdBSjNrdmRJTC9DVHFJM1BzSk5Ia056T2M2Q09IZUMwKzFxVHJVTTBXU1VINGlYQ2ZpM2QyTC9DVGxJNWJ0V2Vrb2twbW5VVWV1VVNybVZrbDZ4QnBKRzdNWnVLKzhBYy9mR3V6UnpUMXhPYjJ0ZEVDdTNUUWJIdWtHb1FmQ0RDQWp1QmlneDhVY1ExUTBTSEo0NGZOYmNpVlRGbzBkdXNkVWczQ0R3UllQdUxLd0FJL1hNVDFaNnF2NUExc3pyVkVWRkNmemFJSSs5c1JLU2p1OEJ0WWJ1RjNSaGI0SWZMRm95MjF5c1ZNYlczWUZpK0dTdGIrQWRyL2dxWlVvTlhvd0t5SU9YV0kwNTROZm1nSmhlTURmV1dWN2ZpRnk1R0N5OThiZ2ZLTS9lc2dUYXA5K0c3TVU1NDgrRTZhdENFd3I0MytNby93Z3k5RTYrc0dOaWMxTFJhcGM5M2hSd3hMZEZxbVFheFNWc1RYYkRDdTNrUWU0WWN2Y3VsY2RITTJ0NG5lenFlZnhuTEJzNXFjZEg0S0I1MEZ5TjU3bGJZTm5CeDVFWG1FbnloQ3I4V1diSGx2YkU2V2FJeTA1UzVhSHdhUVIvamhpM1lDcUd2WG4rUDRQT2szeEJuK0Yzd2IrRHJFaUREcW4wM2NQeFlwRFpqSGZjSVBQL3QwSkVxSEZaV3NTYWFwQ1BRT0hvanUzVFFwTzBHclRLYlljRnVrUXZlNGFCMkpPeDlYVUVqWmtNUG0vdmJnMFFnTjZNaUsvL291VDJCUDNwRkpCU0x4Z1JBQ3orbmI2WjY0ODNFRmZXUnZCbitjck1sU050OGE2SkdIUzBPWThiZElRbjUwU2NBUGlFN1pwUi9HSmFwdFN0WUxLVjFTa3hEUXIramhvdENJTThxbG16blJxdDVoTC9VYWJuaTNUMTB2azl5eTEzRlBRc0FIcjNwTk42K0FPbFdTSDFhcW5ETVV5RlpNcEMxWlBNam5zN254cXdHOElGcjBNcGtmYWJvOVhoYzRCQ0xnQVNSMzlqeUZuOVNwZXZsbEQ5NkFtMGxiKzY4NjkzOStKazRvT0hKK3ZTS24rWXJVWkRkOVZJRE5OZm5wNDJOUzFnTDNCWkNFdk9neWUwdEVCbkpoUkJKdkVLVjd3aHY1WlkrMjhUUW9kVWF0VSszeUZhbjlaTXJZTzd0U2NGMGpFaks1ZEFSZDJOdHA3bncyVjRNSmZhZ1A0VEUxTGw4TnNBYkRycEJjMVRxdlNDMS94ZVlXM1NlZnphM0JoTjZGSEtlcXdzR0ZpaGVJVFM5UG5tbkxvdzlJV1FYeTU0ckV5b1dkeitZV0FEcVFiTzZvWXBzOUZROGhCdDFIOUpoOE5yY08wSUUrb1VPbCtlaE14VU9JVGRTZWNENmJHeU56QVhzRWdVRW4ybFlJVmlnZEdtcDQ1N081QWE3MW1wVFRybW5ncW9xZFdhd3VmZVVGMkZ6ckdQUnN3d3VTTDJWQmtPaVpHWkNwV0xtdzEvTC9sT0IwRzNJanA4VXJENDd3STdMZDNsWHRDUyt5ODV4cUVINlNYVmZKTWNicG5sUk96cnQ3ak5QVkRxOHVoODJCekhJQ1BMR2FRaUpIK0xsOXU5U2VjRDZiVzB5WXk0U2MxMjJlMzc2S2JqWEErN25nT2ZMWjNHYkNYTWFRcFpOV01rcmVyVnVWdHlyZEY0RGFTbHIvbXNycUNlNmdlNzJYaU5Xa1lkZGt1OXRITFVHcDh0bGNONWtHME5HVEhoa0lEbjdRYVpCUzNudzJ4K0VIV25zcVNib3orN245ZHdXamdYZTBBbXlPd3c5b3RDOHhlSjBlYTdsOVhZdlVnQVQ2RkFRTHNEbkJWUlRuRGc1K29ranNDVmR6bWVLeW9HRklhbzk1V3dVSFA4cUZuYy9tRmkvVDk0MllsWkNNOE9CSDdnbm5zN2xONlNxRE9UNkpod2Mvbk04Y1FzUG5zem5sT091bVl5NUErT0d6TDZLSjRkK2RwdDFMWExyeW5Cb3V5czhnT1VENDRmd01jVCtmemJYd05mS0Fibm04Q1JCKytIOG9nM1ZaQVRZM1BVcXM0VWRWT09jT0VIN0VubkFCTmlmZ0I2eHFKcHc3UVBnUmU4SUx1V3hPd2cvWTA0QU90d3V2OWtLOHNZQ3V5Wjd3Sm5XcUdiV1Q4QU5QMGUyOURhL3AzQ2c1MjhURWhaM1A1aFQ4U000ZEl2d0FpOGJUTmZsc1RzRVB0SCtNbkR0SStBR3RjRFdXeitZVS9JQTlMVnlWQndrL2dEeTRKOXdudTREbS9xL2dCNTREeTJDZElPRUhWZ2E0SjV6UDVoVDhnRDJjY3djSlA1eWV2U2pBNWdqOG9Pc0tPSGVROE1QQjVHVSttNnNJOXBQMFJ1aWtMNEtFbitUN2F0dS9PMVZEYVVPd255UnBIemgza1BDVGdPUDdXbTlTVnFqWWltUS9QSzBPSFM0WGdsWHV1NHloQzd1bHRnd3NWV3Z3azN3TEZaN3pqZXVPZThMNklRbVRTUTNKZnZoVDVOeWg3ZjJrYW5QVmN2ZHhOUGlCbkgyNnJXVnFnTm1seGREVWIvT3FIL1YwaVlGMEt1cnBBZHhCVTR0dmk2emFWTEtESDV4d29lMzlDT1VuWUU4ZWs3bXlPd1NjT3krUEtQK3VyMTJ3NS96NlNtdDk5ckV1QWN2WW5EeTYvQjNlSVpic1hGc2ZIbnIvcXFPTERIUHk2TkozZVlmdXA0eXlXdlUvZUJTREJMdDg4bmVhM0xnMkQ1Vzg2emdDNnVrMWxRN1JHZ3dhcDlnTUZINzRFWlpyOStaYS9ORDd5VVA5bjUxV1BycW1DV2I2Q0RiY3RKYWZxVEkrS3FjbmNueVVOK3N5cG1JL2ROYUtlS3EveGIzUm5nb0xvSmdCT0t5K1RtSE1EcjVPNWtUVm4zc3k1MzhBcmJVNDFCc1BJZ0FBQUFCSlJVNUVya0pnZ2c9PSIKfQo="/>
    </extobj>
    <extobj name="334E55B0-647D-440b-865C-3EC943EB4CBC-3">
      <extobjdata type="334E55B0-647D-440b-865C-3EC943EB4CBC" data="ewoJIkltZ1NldHRpbmdKc29uIiA6ICJ7XCJkcGlcIjpcIjYwMFwiLFwiZm9ybWF0XCI6XCJQTkdcIixcInRyYW5zcGFyZW50XCI6dHJ1ZSxcImF1dG9cIjpmYWxzZX0iLAoJIkxhdGV4IiA6ICJYRnRjUkdWc2RHRWdYSEJvYVNCY1puSmhZM3RjYjIxbFoyRjllMXhFWld4MFlTQmNiMjFsWjJGOUlEMGdNbXRjY0drc0lHc2dYR2x1SUZ4dFlYUm9ZbUo3V24wZ1hGMD0iLAoJIkxhdGV4SW1nQmFzZTY0IiA6ICJpVkJPUncwS0dnb0FBQUFOU1VoRVVnQUFBdWtBQUFDWEJBTUFBQUJhWGRpZ0FBQUFNRkJNVkVYLy8vOEFBQUFBQUFBQUFBQUFBQUFBQUFBQUFBQUFBQUFBQUFBQUFBQUFBQUFBQUFBQUFBQUFBQUFBQUFBQUFBQXYzYUI3QUFBQUQzUlNUbE1BWnBsMjc3dEV6ZDFVaVJBeUlxdmJqQzMrQUFBQUNYQklXWE1BQUE3RUFBQU94QUdWS3c0YkFBQVdya2xFUVZSNEFlMWRmWWhzeVZXL016MDlQVE4zWm5wMHMwWU0wck5JUkFneTg0Y2lSRUozOEtFUDR1YU9LTHFhUUhmd094SjZ3T0Nxd2R3MklTcjQwVThSUlo3WW93UVRoS1RueGNGOHNLRkhXQXdvMklOdTlBL0JhU1ZxZ2tqUGJ1YnRtK3pMYm5tcVRuMVgzYjc5UFQwN3QyRDZWcDJxT25YdXVYVi9kZXJjcXBvZ21FSFllcHZOOUo4K2NtcVRzdlNVTlhCK2FURmNKZVJwaTVRbHA2MkIrSkhGc1VQSUt4WXBTMDVaQSt2azZ4YkhFaUYyOTdkS1pNbEpOYkJHaml3V29IVmlrYkxrbERWUXZySVpBc0tRWTV1WXBhZXBnVEI2MldhM25tbmRWc20wMHh0azEyRlp5aERHMGNsMENTdVhMcGdVc3RGMHVrcDJ1TFZlZEVqQkpyR05TYmRNUnBsRUE5V0twM2IwbW9lWWthYW1nWkRzZUhqMXYrb2hacVNwYVNDbjVrUGhxZVRhZHV3YW1aVkZwcUNCTlRYM0w2a09YcnFZQXV1TVJhSUdPcStLckpBOEZOR2czWkRSTERJRERiUU9CZE1jVVVQbzNxNmdadGRaYUdEdlNIRE5hNDdHcW0rSUZRV3o2OFFhYU5ZRWl5SlJRMmptaGhGYW1jazFWTTdGTHBGRDZLcmpFSnRKNDdlVzZib3lIRnZrUUtoaFdSazJncFJkcDZpQkRkV3J5MnErdEdKLzU1aGlpeG1ySU5qV3JFVUZOcVZLcHB0WmFxQ2dyTVcraXNhOVdiYVo4VjVSZlQyV0pzdzZxV1dhbWFVR2loTFhRMlhDckVqaUxKdSt4YnlMRXN3TGFxbEFXemxrYnJGcVpuanJSWExHdWJmbDFIU1ZQSjVoaXhucklGZ2grNmlHSlVJRXJweVEzVXcxTTlWQWdWU1FQM3lnSnZkWU5HeG0vb0NaNmp3STh1UWwxa0tPa0NwQnArOExKSVAxR1d0OW1iQ1ZYMXRWOHNvNXVUeUYxcFlpMHBoeG83ZWVQU3pmZlhRLytHeWZrTU0xUWw2N0gveHRrMlRXK3N5N0JjQTVDNWRuR3lLYXViNVN0UDZOT3lrRlVyUGJYTmRQQjZIUStrRnFwZHRkSUVjOFM0aEdVOGtKNnZyeUxBaEtHRlUrZ3RFNDNaclNLME9zalB0RHRBZVRkQUxBVHNPdlFUNkhtTjJrb3JPaVAvZWV0LzdYKzlHVUdyT0o4TytlK09TUFJmTVN2RXpFSkNkWjNPcGdyUWZQVTZWL0g2di9CaHI5aldSV3M4blpwcTFxWDhySGFBV01BUWk5TVdvYVZRcU1qZlh6VHFNSVRVUkVUSEtjTEVsSW5mSTgyYno3RlN3ZGZuZDA5OXRseFhsRlZ0aHRUZ1NWb0FjSU81TkszR0pzN0o5aml5MU1iVkpuTkp0aW5tL1Z2YWJrZy8rSjduN3d2dEg0NmxzL0NWckRHWnFSTVh6aUovL3FTNkNLcytFcitFdVd5WjA3cVBQTE96UUdQM2UwUlVLOEV1MGw2cnVubjFOdUlzRDA4eHlmK3RONFU3OXVjWUFicVZpa1VaTlJxaWJTT2U2OUhQd3JDUGpENzZORnQ5aVNpVlczTzVUcFBld1A1cGIvMnVEOHVlYitPeUVmZkhNTVF1TTRJdHNHcmZka1lyeElOTm5Jd0JydHZ3cm84VklOQmNnemtkeE5XeFRXVXp0SmNhSlhkendOSk5YYWpLNG85cjRScEg2WFVhWXpNU2pEWkdPaWtZR0pFeit1a3BjRWpMZllnT2h1MnNxUkowSCtsTWE2RmVQK3JqWFI0Z05lR1lEeFZKZWtSWWlSMXZPR2k4Tldxc25YTlVTUHlFT2g5Q0NpUHNCUVc1bkZCVm01cE1aMkNyQ1hlOE9KUFlkU20rUUhzUlVxdHJGNWV5L3RMbEtsQXk5ZUpiVlFXZ0VRUytMMUJ2TUJJc3dZOWNvdkJqRVVwQzl0Y3FnT3prNnVPUDJjRXpvQlpxRUZuZVZZYTZEcFdncGE3akJSY04wZERGTnVVSmt0UXRRZ2VNN2V2cnByZDBlVm9BNWFyd3ppRkV4dVR3MWtQMHBtWHk1Q29CT2pucW9Lb0R5cFM3K2pkVlBGZUxUWUpucTlzVkxNYkQ4R013YVhITHdPZERZMUVOZzNVd0RJNERqYnhLYjZNRWdkYmZJUkJNRVVRTGsxOGNoQXhWQjc0SmJJTzBBYkNET0dXbFpBb2FuQW5sTkxpNHpLMTVESWEyL3JIcmoxbFFnQXloY3FOVllNR0k1VlQ2K1UwMnp6RXdiY0NETjZtYUJNMzhvWWVzMk9RVFlUK1lGdmdsbDJ4cW1pMWdHNklQYVpiRzhLb0R6c3lQRGVaeUpvbWdiWHY3S3NEUTE3ckZOVTNTa213SHFRQ3V3TFpLNjN5S045b1dpWUZpbHpJZWpvQ1ZGa3BPdVFJOE9ES3JRclFzMXVJYS82N3licjl1c01ab3hpRk5hRFZHQmZJSE5kUjVVODNQcWh2SjNXeEtBODNNZ0FVMk1WRENPS2liS21YcjhDKzVxOG9oNkRrSlhDZWpxd0w1QzVYb1U3M3VIU1UxZitoYmlUWUhKUUhtcGsrQlEwZXZtZmYvNG5MUHpSUDhqbVJXUmJEVFVscGx5RUdaSE5yaVUwdG1MdFhveDhURlRGZlhyeTVreWlraDd3Tm1ITms3YkFiRmhRVGhaNG1KR0J0dmxEWjhrOGd1QlVaSWFFR3U2Ym51a3VnL1ZVWUZjdmplQjRiVmVxOVVQZU9qMExSVHFJQUpRbi9VRGUwVTN0aER1RU4rbzdFN0pzOGpickhnVmw2b29DUzN3MEdteXhMNUM1SHZSQjB6MHVQdFc2OUp1QSthc1o3K0lHUjdyVzA1ZVRmSnFRdHd6THM4NDZLOEtNVVFkaEhZSDl5c2pSRTdrRit2UU1tcEVyYlF5RUFaQy8wSVVlSTk1T05kZkRpSHovMEl5YjlOMExJK1VmRURVNXJBK3kyTU52K1RJaFAvQnRBNkZNc0p2REZVWThPZTgzUmxONFhUbnlQSGovNWYrTkpVa3NKbDNoRzZOM2VtOTRUWE1ucGpXUlk1NHZoQm16TElmMUlHaEJGMnFZZVpoNkVCUFN2SXJJb3gxZjdqWFEvdjRucEQ2bzVWZ1JJblFFS0MrVHl5WmY0Z3JmY2o0V1FTRXRYTlZFQmVlcVJvWTljcGVOaEU2UnFrUTNKOHNobkxOM3N1dU9pUUxXZ3dDR2I2OHI1b3VFL01kWnR4SStTUzd2T1h5dm0wQm5TYnRDQ0FIS3E5SGJqNE0ySDJURHZxWndqRlpFQmVjcVI0YWZ1bndUT0Uva3cxVUZsMGZ4YWxiWkxKckJqT0pBWXdMV21ldUllSUFkakZNWXNjdTlJUGpDQ08rVzJjanNVbDNRbyt3TGJRN0tiWmgvZnk3bUk5RUxqdElIZ0w4WUdlZ1padUhIcEgycXlkOFZJS2JSa3FMcnpLaEZtREhMU0ZnUGdxWitCNklVeUhFRWNXYXV0OGx2Qy9LaVhFSFJ5aG5LUVhrYnZpOXRSdndKVUxlZUhlZ04rWU1ZR2ZydzJlUjU3OWdjKzE0QVB6TytrNklqaDM1VlRNSzZIOWpES283WXJLME44eE9DWW5KOU1WQ3VkTXNKVUs1QzM2REljMHpGNnNKaithMW5mNWs4Q3lHK3BML1A4a1U3UHFFNzJNZnlWMUFYV0Q5MnlxeXI1cHc4aDlCbTBORjN6VDhGNndqc3RvM3pQS0lLTjlkajN6dm5ORFlXNGJtZlNRcnZHOENQbXVzTmtjOUJtZTAzTHZGM0FPdzhPbzFjWW5QMGdueEFvb3A5cmFOTjJqK0FLc0M2WXVmRDB6eDBhRW1FTFVKbkVyN05XV3ZxL2FUZkJHeGdCeElJRUFUY3U5NGQ1VWtuQ2VPbGczWVN3NzYzQmlOU0MrQlVaQU1ZMHM3WnAzcHA4NlYzQlZ6NGwyZHoxaUxWd3NBQTFZNWhuemg5UnRRbTdUbUZXeDY0Y0FweEFrNUoxelNmcUNpcHdib1AyTUdweWtweTczcGVBMUhCWVRwWEgveUt4OENldTcrWmttYTZVN2RwSXdpV21jU1F3V3lZTXI3ZVJUWm43Vjc0dVNocXpMcmRIbjF1dEsrZnFSd2U2MnU5MU1tMENDM21qVVNZTWJPYUZTM2Rnb1lhV3BwK1ljTHhrM3ZYWVczTmpwNC94ZmlYb0cxL3VLb2xOa1Bma0o3TUxUSWpjbzlKbkNkWHA1Q3h4U0d4enZSZHFzaXlDUkZZT3dUUGphSTZHQkRrZDl4U2FuN201bG1VTUtLQWhpdS96Q3dkMWozQTNoV1B1MXRoOWVEajk2SEo0SHBUOExFYTMwVW1ScDBha1Z4bHdYdHFsSlpuNDFrUXNONGJVTGdlR0tDWHdjQ0d6eTFZL1NhM0xOcUNMdDFIV1dhNjhpekpnSm1SWHQ0QjlpYmhQcnh5RDh0NWpTbWR4WHpqb0dmTmxtMVRVRzVyQkhDazhxbFNkRVFGYTdKZkdrc0liR1RZd0s3dUxiSnNZb0czakNCMjJZaURLNzhFRGE4dHJsVk9iY0k3ZmsrVkFFQnBZRXA0MXlkMzZpbnVrOGRnUTZ1dUlRcktvcXR6NW4yOG0wMGNBMVBoa1kwTXZLdDd4U3RvZ09ZdG9CSDVrZ3lQM2RSOHJCWERyUzBOUlRsSE93b0l3bENJL0w0SlZXV3VNWERDZkVCckVFQTVqSFZDRUh3ZXN6ZllLNzJxOXlpdG5vb1dZV1Q0OUtOalJiQmpSWTlCWXBmaDZTVlNnUmpDakZsa25jMDdGWTBhWWdCc0lsVFppQTRwNlYyWEpvTi80QnVXS2hxWThOb211b1lBbEY4c004ZUh3M2FGb1g4dTFlb0R4SHBpWUc4dWtyOTBwaFduVG5PTTBHSFBHR0hHTExHbXJTeWhPZFJhNHVNUHBHRHM1SytIOEs2ckwrakQ2dGRmenBSaTNKU1lUUEQ2MU1CTzZNMTFCcVRiNG8xTmJCQkdCcjNYdWVVNnRBMHJ1RityV1QyY2tpTE1tSXdzV0xjc2RyaU5DeXlmNS81czlSeXNsa2RNbWxLTW0rb1NvMmNES0pPcnA4NTgzR0FWUHdUdDA3MnZFTkJpWVBHaGIwM0lwT1FPRkhCQ3pWY0Jkd25neWkrZUgvS3JCZXNXc0lNdm80Y0Z4YVFPTFN0S2M1b2VpWUJjSi96ZGlreDhCRkNtNGNjOWJMSDNkS3czMnkySUhCN2lFT3htKzdYdXJrS2lOWEdYd0luKzhqVjNHRXNiMXRGcEpJRWRVQTdMQldKU0I3MmZtMkkra2VaTU94SDR4OXNGY1gvaHZVMW4rd2JrcnVNc28yNll5UjVwb1ZPOS9EY2ZCdy9PdmllVGtZcTZGcE1LTVhxWklYVmZtMDZJR1pzTjZ3anNzbUJiekpHQzhnRzJBQzl4WldCYmM4d0VzL0dlMFJ5SUMrTiszN1JyV0lrOHZoVGxOSzBqcFA0alRMMk9EYzRxc1dLK1hpckRqdUV1QVZ6NXhmT1d3R2RQZ3dQcnpMMHBSL3FxOUxwVStjUHZrR0ZiWmZ4bitsTVFXd2RFSytoZGgvNnEyL0FzczRPM3RKZW1kZWhVaDFDaGJzeTlCSHQyelpNREk1Mlk4R3hHMnViSTRjQTZBanR0bVFhMXBpYzZaWVNnSkhzL3BxL3p0eXEzRG5BcCtHS1lyaHlOcEhSdFZIYzFUZXRGN0ZTdy9Od1lwaVVmNm9pc2FLa0JVZHdsVU5aOVpVVjg5aTZzSTdDTE5TVnlOOXFtRUxlcHV6MEd0RGxHMXFaakJ3dUMzNysrTEgwQnEvZFpjeFNVYVFSV0VOaGpUNFNnbVhvMEUzVHlHbVd4bDlpNTBHVk95NlNFSnJYNmNPV1hLRmxDRjZZTDZ5YXdSK1FWckNITWRXWENDRTVUdTQ3c1gyOUxIQ25pL0JwQW1VV2dwMXFUOENWK0h5VE5YbTh6N3pyNy9yU1RjR2ZOcExmQUxJKzdCTXdsR1Uzc3V5MnVWS05DQk5aVERTbXhjR3R1YzNNZFp1QUNmWXc2VTBqQUEwME1QaWhkVXI2QTh3cHJIMEM1d1NJY2FUNVZZeW40S2ZBVllmTEdSSVo5amZrVXNZaElFM28yNWJkVHJVL0c5Snc5WUZ6NXhWdFo1Nk9rQjlZTllJZkRwTENHT09PNG52am0yZktQbmg3UnY5NVNaa1lMZXdLb2FwYzF5N1ZlUGhKQzhKUEpZV0s5TDBqK0svT3VReGJYZXM3VEs3dHBQSkJ6bGIwU0RHWkVVeWVJemo1WU40QzlURjM4Tkp4ZjRMVXBPajhtci9GM1ZYdnAycnRNRU9nUzkyaEV6Si9qR2lQRFR4OE5EOUI2VDVDOFZ3bWc1emhSS1lnQlRpdTk3UXdhV3FhTTRpNEJjek5TRmJWWjhMNHM0TjBWUTJaWExMZ3BIVEIrZ0p5SGt2SDFScnJhZC9kNG44blM1cURNUjFWMUNyL280Nm1mWk1USVFFM0hHdkRzWExnM3VTVjA0bVpwRk53bGNDNmdtdWFJWllMb0V0TEtZalFDdGRkWUZEd0NTT3JqZmRWZFN4ano1LzY3RlIzSU5rTXVyUUJsOE9EUlVSVlhCZEJTb014VGVnWHRHMnBjZmZOL1U3SUtjbVFvNFFNc0hhbzhHV3VMK2Jxa2VDSjhNNUkrOHJZSnJqR05jZXkzSzVWQjY5Z2N5RjlqdVdpdWczRmdmS2V4Szg0eC9SbnRmbkw4bGVWd0hzRExXZ0ZSMU80MWNjNFRhTjJBREhnNWpneVppNEpReG9HdnVtTmtZMkxGWk9JcElYWUpHRi83bHNsWHExK0h3cXZrUjRWRmJGeGJvSFV1WFlTQXVJVmQvZ1ZpejB1OFRjNkRHTDhkZDZmOC9qYzg4UmN4U3NlQkJSYVJZS2ZweUQ1VkVuTWVNVmlpaEZEQjh1cHlZSUhsaFF4alF5OENROStycGQwaUxzblFOeU50TmNrK00xN2dmVW9NM0JWVFIvVXZNUkNGTld3ZlNHdHVUdmwwSWE4S0tDemdDT0lIZU4xN0lBY2ZZeUhXRk1wdFNnOEhsWk51eTVZdUowcWdhMmpZTldpeDU3VEJiUW1reVYrdUZKbjJSRXBzU3FwdFJncnBpZEhzRllRbm14eHFqRmNPZXplYTYyVmhSM3FhbVRPcGJ3aU9hQU9kQ0hFUlRaVlFybVdCUHMyN2ZaVURQRXBMdjV2SlFveUVqaHlJZHBqV08vWVVGK3NCN2g1aExPa1hkd2xvbTVHMjJ1U3lGakw1WXRwcVVzQWJnS254N3dKclpxNS9jWEhXVVVPMzFnTk80WXBTR1RIRnhRMkovR3BxQjMxNVYybUt2VEQ3S2syL0dYQUR2Y0FNbFhaUHoxVHhNcms2VXlsUEREZjV5czFJbi8rRGlKRC9oUzFoUGR3UW84dHV4am13dzNQZFFYTWQzSjlIbmdZa2Fla3BHWjE1cE9XVHRTczdjcDIreXExM0NESE81VmVDT2lFTlFVWGZoLzRVUUMyRWpuY1FWaWtVclNkOG1RdFd3VDkxeXNvbC9IVFpPVjhSKzcxekIxUU9nUjc4ZFlTN2VsbmEreVBNNFMrUXE3Y0ZwY010T0hYb0xRbHRJTGs4akVFMWtNUHdtYkVwTWdKQlNZQXlES2N2d1Y5TjhGTVpSWUxXQWMrcEVoTDFSQ200UWhlNzRNa3lQSTZ5WWZCbzVRTFlEdmJ3dms2dzRuMVRQcG02aDNOUW1YWWkwa1A1czdBaHFmbWJFWG40Sm91MWxZellXR0VSWjVSc211S2lxdXBpSWsxTmtDdk45MTZYRTJxWXFOUTBrWEx4aHp1SFdob0dnRjJlQkR1b0NZdmdrOEozZ1FDLytxZi9scFQ5YzZaOEltVU8zVW1Wa2Y3Z0dhajFrYWVPQjVjQ01ibUhiSEM1MmVWdTNOMFh6TU9QazE5VThxcU1zUHBMb2dpL0ZuV3RCeC85c016K1hQUFI5OHFFRzZGcWw4SC8zZFN0TkJwbDB4enB2WlZoR2l0ZkQyK0J4U1IyRHNhVEsvd2VxWE9JMU1aak1yalcraEN2UmhrYWwzMXRNTHRGeXUzdWppdk5aNzhzOVo0MDZvN0xHdXNOOHg4RTZVQmRtYXlaNjZqZG1xQ25oUCtTZUhyRE5HNWxMWEV3bDl3QjFxOGQyS1V3STBUMmFpTVVubTlSbjhQVGtnQmcvVVlDZTJUZHh3SWxXOFpBN3hXcy9HSVYxTDdqelZ0ZzR1WVFJOVoxaWEvK0lYV2lCRkdsRGxxdkpPWXZhTWF5OVZsN2tjUnNucVpKa3lNNzFJTzV3UGZndjRPVEN6OTlBYWpxVTFpaU1MQXJIaVoyTjg5aUgrSXRUcnpuR1dlc0M1OU1janRsbUpmR29QWWJCdXhiczdHMGsvVTBRczV5K2xRL3FxUWVZRFZDZzNNcm1yN1ZlbTZpT0EydGNmZW5reUVKN0dqQ0d3anNld2Z5RmhZdTBxbWtpY1FPTzdsNXdMNjB3QUFUdEhwcFdxZXdmZ09Cdlo3NkVxZmQrQXp6OTFMSFNBcnJOeERZLy9oc2hscWJsUFZIajFNNDhGM3hOeERZVTI1c29iUDVHVlkzRDlnWFdxdHB3cFc0YVhrRExmYTBXMXZnZklSMUJQYkdBc3Y1dWhKTkhuYmlBL1ovdGtlc3JlOTQ5K3ZxN3Evclp1VFJoTTQ1SjNRdGVjVVNxNzQ0aXlVdHlXNVdVc0E2Ym9jM3pjd0NYd1VuN3dpV3d3MWV6U1JMWnBHQkdoQ3dEdXV0UUtVTm8yekwzbjhGSzMyYzdtL1V5QkpEYVVEQ3V1Y0FxOEE1SzVWcS9XSW92bG1oUVJxUXNPNDVjdFk5SzVVaXpPTkI3TEs4b1RTZ1lCMkIvWjVXNjhSZG9OUEt0SzRwYU94b3M2S3Fna29OWUtlbkZGdEJXOEpwNVdUSjRUV2d3Ym9MN0pGY3pxd1l4dGxvcXBReGJrdy9jZFkrY25iZDkwbHZsSk8weHhYcWRWOVBoM1ViMlBPK0JhY3JiTmZRNjE0dnM3M0JwbUVIbXNEZThTM1YyTDZKcTFCbnE4T1J1VnU3NHVrT3E2OUpKdVdLakQ0bll4dXVYU1B6c3Nod0dyQU9PNkdUb0N0WlV4M1FxbzI1UzN4M29TeVZSVWJXUUl2dldoTVY2ZVlWWWJHcnpZZXdsZkJBbE5oUVQwV1FzdXVJR3JBUE95bUIxaHVjaDdiYm9LeUcwR1hYaGgreHpWdGYzSUoxMDJMWGRodFVsYU5SN2UrLzlkb2JWd0VXck9NbVRnRWgybTREYmU4T1B5OXEzQmF6ZXVEYnRXQWRUeWJrd0s1Mkc4RCtXYW10ZWtOR3M4aDRHckJoM1RqQXFsVVJUTmUxbzJ3V2VCMnRFSGZCcnc2c0d3ZFl0UnRDL0p5MnRGMGNEU255c3V1b0duQmdIWUdkN3p0Ui84VmlRMzNKV1BKNUNVWnQ5M2FYZDJGZFAzSTI3Z250YkN2RHNmQ2FJR2JYTVRYZ3dyb083T3Bzcm9MeUFyVFN0MUdPS2N4dHFlYUJkUjNZNVhRSnBxWlNKVkZEUnJQSVdCcnd3TG9PN0FyTVk3bFVZQ1B6T0k2bGFxMlNEOVkxWUNldjhySndkdEVSaitKUnpScVBMRHFxQm1MdjEvNHl1R0lPS2F0SWJHZ0M1MHdEZVlkUjVvVkJUWXo5dXlwN3NNR0M3bTVuUTJiTWpVVHEvdVZPOTg4UTc0TXk2bWVKZ1Jyd256Z0xoei94RS91cS9HaWhNbm5JRDVPRC96K3lQNUJsbHBtcWdmcEQ0L1JOa2ZoNTBEcXpGUGNJODlMQVB4di9CTUVUb2Q2Z2ZmSklaWjhWOEdvZ3B1cE5DQlRZNFdpQlh6a08vNHoyZlBqWThaWGp6VytXaDZKNitXWEVJVFJBZDhRa0JncnNSWkg3TkQwVkZNUFJFSXl6SWdNMFFEY0pKQWJxaWhHSFhjTHB2aDFlTUgxei9JQUdzeXpRQUFESWdGQ0RrN2Nqekg4YXAwNDBjWkJwYmtJTnhLalRoRitxWDN3dWo4NGdpaENUR2VzVDZoem5vQWtxQjNJRitNTXAxbkI4eVQ1dGFZbEdyMm8wbW9VWmEyRHBtY3ZmdTRkdC9QV1BYSDZvTnVQbUZwLzkvd054dy9hek9BaTZFZ0FBQUFCSlJVNUVya0pnZ2c9PSIKfQo="/>
    </extobj>
    <extobj name="334E55B0-647D-440b-865C-3EC943EB4CBC-4">
      <extobjdata type="334E55B0-647D-440b-865C-3EC943EB4CBC" data="ewoJIkltZ1NldHRpbmdKc29uIiA6ICJ7XCJkcGlcIjpcIjYwMFwiLFwiZm9ybWF0XCI6XCJQTkdcIixcInRyYW5zcGFyZW50XCI6dHJ1ZSxcImF1dG9cIjpmYWxzZX0iLAoJIkxhdGV4IiA6ICJYRnNnYlQwZ1hHOXdaWEpoZEc5eWJtRnRaU3A3WVhKbmJXbHVmVjk3YlNCY2FXNGdRMUZUZlNCRlJDaDZMRzBwSUZ4ZCIsCgkiTGF0ZXhJbWdCYXNlNjQiIDogImlWQk9SdzBLR2dvQUFBQU5TVWhFVWdBQUF4c0FBQUNQQkFNQUFBQmc3OXN5QUFBQU1GQk1WRVgvLy84QUFBQUFBQUFBQUFBQUFBQUFBQUFBQUFBQUFBQUFBQUFBQUFBQUFBQUFBQUFBQUFBQUFBQUFBQUFBQUFBdjNhQjdBQUFBRDNSU1RsTUFWTHZ2elpreUVOMnJabmFKUkNJR1hHTDBBQUFBQ1hCSVdYTUFBQTdFQUFBT3hBR1ZLdzRiQUFBY0hVbEVRVlI0QWUxZGU1QmtWMW0vTTdNelBUdVBuakZJaVJabFQ1bFFGY0NxWHRrRU53RzVJMGxFZk5CVElRSFhRcm9yaWthQjZrazJZclNFR1pnSXdRSjZlRU1VZThvWXNDVEZESThxMU5MMEdJMUFLZlR3S3ZGRnQ2NWdGWSthSmIyUjJXU1Q0Kzg3eisvY3ZqMTl1K2ZPN215bXp4OTl6L25PZDc1ejd2ZWQ4ejNPdWZkMkVBeFNqeHg0MmxhUERicWhaNi90aGpHbzc4aUIwVmF6WTEyZkZaVzVQaHNPbWdYVi8wdWRDWGVlWFV5ZDVpRWhPQ3pTMWxWQmtBM2Zja2k0bC9wdEZoNU5uV1FRbEhjTzNmTDQzSS9GcFdjNjVnNkh3a3QzL1hITU9qZ3FObDJMMUhKRFlqNDFXcGNHb1dtUDFhN2dXTDdrZ0NiM29iWjdxei9jQmtvRFVEK1hCcFdMUzJPbzhMYmtBOGhlc2FLWTNMcGJwVkFWblRnbUhuclg1UVI3K0daS0o2K2svRXNpSFV5TDcwY2c2UlRIeFVZNmhDNGlsYUlReXoxMTN3Q0RIN2N0c2s4TlVXN2FNbVdLUXJRV05XUWFCYkhnVlFlbnhKb1BTS21VRmVuN2F5a05MU2taVWovbmt5Skx2R0cwMkdRdEprSWhXQkhabWhDUE9RaEtaMTJKY29WSTJhL2RRNm0yczRmR0I2THBLSmpiMjAyTW9FV0pqLzIwYVBGaUVGU0ZlTUpCc2dVaFh1U0tRVERCYTNuRm52TWozanpaTTdtTFFJRG1lbVJ5ZHhuRlVyVEJkSFQyaDBJY1kwVFFoYmNjbHFMS2krSHVMVHR4eVdzcldoMGVzN295SkFjNzdTTVZmSThtQzVLckhBUExZNU9WcThJWUZnWk1KMXZwN1ZiUzZUUk5Lc1M3M21LeW9tY1phQ3oxUjd3UlRZRGtHb2NzY2RzZmpBa2ZuV1B1Tlo4VHMzc2xjWkhicjBlbWN0ZmhWRVJVSlRTWTRVYnpveEJIazVPWjhzelQ4RDY1dWRUanVLY2wrUmd1bGZ6WWplL3NhYWdaTVB1TTM2TDhQYThNVysvYjlrd28yS3d0NzV2cENJSko3dEo1ZzNxeUZvWWdqam4vNXJaOWQzOWJDTitZVUNBeWI1dmtmYi9Nd3RQSVpDSVRJUTJhQjVzRzJmNE5mNGpiZnBBTjlSZXhSam1tM3pJOSt0VitWOTFLVmJZTXUrRStLZXJISVk2U2Z5ZGxYM2xWdmJDRFVKZFlxRG5aWTlUcGQ5V3QxR0RMc0J2dWs2SWVySTNHS2JsbDc4NUNQK3hBSFVSb1BkRHhmUXNDYVJBeiswcmR1ODJEVWNpMWhSM0IrandmV2x2WUVRUkhtQWpMK3pwL2gvZDE3ZkhiUENENUlnczcva0tOcWJiS3g5WVdkaWpYZDB2akZMMlFrRGRNSXoreHI1WXBqUkdtVElPRkhSbTkyVlgzVEh0YjJCRUVaUDdYOURqRVBwekx1bHZFMGl5NTBwTS94OE9PU2UzUGZzM2pRRnZZb2NTaFJZWWQ1SDFsVWlYcTl1MXJid21KVC8vRFhhOU1pTm9qR2c4N2prVDhXVVdxUGV5UWNmcW1xcDF5UnIzSG5wT2hWM1ZRZE5ueEcwcXl4VzAzaFR2MzZMYjNyYlRlK3BGa2RIYkhtbjV3cGZXbUJ4ek9HNzc0MFpOWG5FRDVWU3ZQK1l3RmYrdEtkTDJJTFd4b2xGWXB5TDcyb3c5ZHNUS0w2cWV1dE83NnZFS2J2aWs4OGVNbDArUjFYN3ovNUpYWHlKS0gvYVovTkJpUkt3ODd0cCtJVk1waWU5Z1IwTGJ4Z3NJOUVtTnJMNnU4RFlOR3lqNWZJYlgvSnVidXV0b3lHQlhIVlN6NjI5aWcwZFl1QTdNSHhteTBVKzhWTWhXS0ZpajlvVzFYeFEyUzFicGR0TUlXTVp6U0xRUVU1eFl6aFVlMjdvUURrNU5sMUg0U1dFSzhrWEFncWVPUWxXa0NzSW1oYzVTbEtJcGhVd3Mva1pOVTBxRDZNYjlPbGFvczV0UDFGS3VzcXZ5TThIZFVBUDB5YXA4cmE4ZGpseHVxa25PM3JEYlVpbThPNnJST0pzWFZwV0E2bEV0bVhieHNNWGhLZER0YWR0emJ6MUI0N21OQjhCMGhmc0swd3oyVE9NYkNuMTdNbXgwOTJORDNMYjZ1S2g3NzhpT0x3VG8yNm5LRUJBYi9Ud3R6L1dtU0k1bjhJeGhld1k0cEpBeGxBbktVOWJGTmIreTZCQnhkekJnV3MycGt3N2F3STZBVHF3V0YxVENqdFkwbVVhbEZYRisyVUQrVG5Mc3pja2RnQ0lmREk3Ui9WWlc3bTl1MGlUd3Exd1ZzdlI2SjMwTXZwVHI0aTNTN0kvWDBreUdKNDlSakFiWkxWWWlWcmNnNU5vWjdtOFdtTitLaDc1d3NVQ0VidnB4YUYyaE1weVVsS0k5VkFnWEIzOXdJRENXT0dHeUY0LzAyWE5neGJMMGxqa0ZoeHh3SElMOEUyS2FDMWFQN2o1ZzRsRjZBNm1tNzdoU3UvZTJCdStQeWJzYXhCSEdUd2ZEWkpoSEJSRzBHZWZVRVJSNk0yVnVhSVA1U3FqSTdpQlc0RStSbktlSlYwL1dVYURVSnFTR1JWTFJGQjZPenA1UjZXSUtMbVFuWENBWHUwZU4wcGZTN1JoeFEzVDUyU2RaSGZ1bzI3TWptY1kvdGljS09qUWk0NFdCNXNleFgwdlJCb3JHWDVWVDJxMldwQis0ZWxadUl1V1hwenEwVjVtUjcrQjhMdy9yTUxMZm40NWJ0c3c5SXFzVDZCWlhEYjEzc1RKd1BwQ0pZSkdCRmI5eGhLcXdHd2RnL1NjUXl4RkhZa2xuQWw0OW94VjExTzU4UWpWb2RRSXBneTJhUkgwaE03dDltZm92UjREaGs2MHNjZ0h3TnNGa0ZVMnFjMWVPZTNucGpSWWlmZ3A2ZlkzQ2U3WUc3NkI0dEN4dHlTWnpVSW9ESWw0dWFlTm5kdXVzaTg5ci83SlNhRGt2bml1Wm00TFJyZnFJbUozYVdsbVd2TU9sa3RQVFJDL3EyVXg5N09PSUg5SnhENHlmV053bVYyanFXaFU0Y0VXeUY2LytDc1RaWk1YSVV1MW9ac0lvbVRWWG1FMHBDYXJTV01uOEsxWXZWM2lIMXdGMndvUmxrNmZpWG5JNTVSUkJUN2xGRGZGdkVuQTJmc3ZmVWx0SGNZeU1MaFRsQUt6QnQxUkE3TlV3NTZHckovU1Y3bzZURlRBS0Q3MTFXQll6cC9Ba05CL0ttem1KVldiYjYyTzBESWZYT1Vod0MyWW5JVVRvdFhHUC9NVnB3bnlmOWxNbjBMNFVkbFhvdjNJVmUyZ29tYVFUa1B6UlZUMlRQak1Vb1d5Z2JSUU1JSFZMYnpRUkExQjVnamRFcWk1MFZvdmlORjVmb3NtNzNJYW9NQ1dPcVFHWXlnWXhaVytEN3FvYkN4RnR4K05oeFI5cHdITVF6NlBIQ0s4SjJmMVpTekZuallqb0k2QWIwamk3RXVlYmd5SkdWVm1uSUxWZ1BBd3UvQis1Q042d0ZNajdkdGx5VGs4ak1Bb3pQOU9pNk9ZcTc2WkRlN3JCMERvaDZJcGJaM1NBUDAyRlQzbWcwR0JVM0E4Rmd1MVJDbzg3a3pKazNMWDF4TU96MmVhRTBRRW0yekxUN1NCSmViQmNUV1dzOVZCajZMZE94dkU3cGlRWVh4S2xZRHdPZEVzNTJNdTVpSVd3R003UVVjbFpYNGNrdXg0V2FXYWlSVHBJWEs5WWFMRm1OSk8ydU5LcWFEcEQwamFMRFZVTWM0ckF5QThhQ2hrUEJMeHNVWHh3TVcwOW9neWV2TThMZXpXaTg1VVV2Wjd3bUFmbmlKdHBBdHVUVlp2U2c4WURKckZmQkNqMXhsMjYrY1F5dGk2NHIySGVqRjRLcWt3enJvcGRzVHBnN0J6ZFdUY3V5bSt3RXdpMlhWTlc2bXhha1FPMmtBNlBNSGNQTTBZaGw4c1hCc08xQ01aaTROcHhsR0hKcmtDSEFRcG5CV2loWmQ5MGRHTk8wY0M5VHRzdkVBMU9oSis3U3pkYzMwYXBpRktROC9ySzNXMmszYmRSSEQ4azlaQTV4ekptR0VJZk5BOVpSSFBZZ0crSm82c2FkeGNHdzQ4UlJ0M3F6UTlBR1U5b21waVhBRmxUUDhMWVg5Umo4eXhoVWZxZlVFM2RKSEY5cXl0aktyblFNUVBkUElaY0ZkK292TVR3aUR0TUh0UWV6dHhTZEdsdENXQjFuREhWZ21HeG5jVERzT0hFVXJOb0poaXcxUTVXdW1QNW1sVnJ3dW9OMUZFZWo4K0xvamJ0R0RXTmUySlhlY0hxQmcrMEErODNNc0JWUlptWWQ5UEsyeXpyellpR09ZNmF6U2hKeE1PdzRjWUN4Um1EUzN6RzA3VFV1N0NoWXg0cDJMaFl0THN0TTc3STRKQnBuNDY3Y0RmVU5ZMTZZa1pKelkzcmxZTlovSDlsdi9zaERWVjhjczR4S3ppcUpJcHVmRU1leVFhcTRlQlNydzQ3VnR4MXgySWFBQ2p2bWRmR29XZlJQZC9WeWV5cnFrWkhYYnl3cE91YllOcjl1RUN3a2t1RnMzSlc3Umh5WUYvT0dSc0daYnpCa3pvRDNjTTNlaHpsR3lSSXJXKzBreWM3WXFvcnJuRXo1c3VrMUJYR1FqN1NwNlkxclhaRHhHSnh6eHNYMFM0MldkYUdET0NhTm9qVnQycTZKdVZ2UkUyM0pqUlIyMWNaUTIzYld0blhSQTJBQ3dyam00MTkzUEplTzdoYWpnTjBCTmVFeEdhM1NURnNjNEtabDNNd3gxZnVValNLcFhIVEd4UXdPVTRLN2RBYk1yMFUzWWc1bStjVGNOYXNqNTBiSzk1YnFUSFV3OHIxbDZVenJBVFNKaUtQRXFWVEVZN0tJWmIxcTRTbXZEdlJ2MThKMFUvVXl3cU1mOGlqVXJMQkRvUDBDRzhMRTI0N2hWc21oeCtjU2N6ZlVLN0hvUm9xWjJzVmhqTyt6RXhUMHpzNVM1VzdpOERmWU5hbVV4ZEZnbkRXRHJTMmJISzV4WVVmSUZreThaMVY0QVNNUm4wM01YU01PRm5aZ0RpeHJxdGdnTUNZdnZwOEVVRHFIMkpSNHU0a0R2c2RiZ0lUTGl4ek5sTVZSajdtYmNNMTFSNzFId3c0NkFGa3dLTEhpdUdObjBkUjN2Q2JtcnJiZ1BMNEExOHdBWU1lZTZOaEh3b3JUMWhyc0pvNlJjMEo4SVhoOTNoTi95dUlvMkpIWW9VOVk3VVVnYU1wbzJJRWhPSmNaOVUzYlZHY3lGVFovb3BVR2g4MkQzYm1yUFJydUdKZGRTTUQ1d2J2cTRid2pFMXFydEpzNGFwdTNnQmM0VEdxeWZuajNLWGhXSUgrR1VhZnN1SFZhWkFrWUVZUWluNUNZblZ1Uit1RE9xR2NjUlVBNU1YZXhLbGFwUGVSdVIxcHpjd0NTMllnaDM4dDVCMVNmTXRLNzI0NXdNZmoybGVMRVBZdTh1M1RGUWFjZDg1dzg4amx2OFMrNVBTMk5SMjNXYkJ1d2RkWVdWQ1piV1kxQVlvcUp1U3QzZEVFQVB1QzhvWk4zQVZkUlNlWmZQU1lGUVFPRDdKRGE1Z29rZWt4VFZxdGplb3VLQUpjMG1DNWovaHRIdWlaZGNmQ3d3M1JkbVRNNXV1YmMxTkZnQkF6TWVNcmpDTjZBbnFZdzVZa05rMnU3SnVhdU9WQlpNdVlXcE5qeGM2aWN2RXJKNytGbzJFRVlRclNkZCtUZEFsUGlLQzhUc1lnNEpwMkNabDJsS3c0ZWR1aE9JZ0Zja1hsUkNnT2puM01EZ2k3WmRDWEtqWVVMQnJCOXh1VGFyb201aStVbkoydkRhVVZNQWJNaEJtR1Jvc25HVHQyMlRtTUJ0TWZRMURVWTFSd0VzVXpGaURoR296cWJjRklPQXpFYjdPYVBKSTlUSWYvT0treGxTd3k0VXQ1eWQwNk9KbkRhUlpIRmVRMXJ2eVRtcmp3clIvdTZHeWxBUnFGQzUxRUU0a2V1N2IzdEJpSGxhK29oZ3JrTzRqaHFaV2FRNlpydTZrRDNOcURUdmVTTldaTmxUSDYrRmdBclJnQVZwOUpsaTJ5NHFpbmgxSC9OWk51dWlia0xoc3ZHYkpzS3R2ZVlKZ2gyekNGcjluYzB0S2NML0hZN0EydWR4VEhLWW5GSFAxMXhvSHVyNkZVZm95N2VKUUJVaGUrNVlIRzQyVThZZWNzYUtnWGNyVHBpYi9Pcno1UUtSMkhJMzhUY0hSWkthYk9SenJodGltM2xWalNNZUZnUFNiTllhM1oxRkRxTFk5THVtbkxDNllvajc3Wm1kU2MxZnhKZ2JucU9MQVd3RzN3OFFjMlhYNFo1QW5haHdXTmcxbDgyVDh6ZEVUVmhvRkxzSG5IWnVYWU5wY0lLYTk2WWVpclFqR3VxRnRObnBmdVdtNk1pZXVGekNDYm1Dd3FMLzZZckRvekVidjdJWHNDNEV1OHVldHF4VG8remVVay8wbXhnUjhUS3pyTVhaZWxXdTI3QXRJZzduSnk3UzBvTUdKZ2RhYzN5RHc0dHJjQnB1d3pOTUhxNGtpblhNMno4SFZJTjFoYW9PUWJOeFlFSGRNU0p1Kys2L3ZwbnZ1SkhIZlVacHplRDBLMHlzTzJNUVFxZHJmV3gyd1pOVm16Wk5LTXJKcjl2UzdaOTQvSVYyUEZGM29BaUorUGxTSGlSbnEyWEQxbCt5ZDFPRmYzTWU4MlNjN2NzbnFDVzhBR1hEUVVXZHBUbGVPa1owLzRUUnFjbG5aK3RpTWZ4eUtNVXc3cGJnNUoyR1RlaDA4T3pwcmNseG5kVUd0NkE3M0xVaE1ZNDJBSGJFSU1oc0pzL0JCc3JNcFVna1dxZW1ya01WcytPUkJNWjltekpoSGhzTVZzVjRqazNYODVhVnRDUEhaNXNsNXk3NjJxTjRRWVhkSStZaHRaOGpjaHNjYzVVOVhNOWpVMGZ5Y2ZienlQTTJnbUdwTEhLRkNLS0FEUElwdGFtN3FqdXdqS3lRUVpjY3hhV3dGdngyUGFHVkhVR3JjdzZCU1R6N3hpQlZUQVNoZlNxbmZ5M3ZkUkQxMTFNT2I4RUVQbHhUekk0bEZZMUNwMHoyMzBJQlp0SnpOMnFJbE4yTndYdFlzYzBSWnBnU25IVDlOYnJGV0dNZkxGak10eWtzK2FyOHpoZ3VFKytLeUNlODk1WE5DMjVHdkJNMmlrQi9DcWFjelQxWGhsa2I3NHhSTGIxakp0THdUY00rR1VXL01GZjZZaXR5WC83b1E4Uzk4VTFOLzh6cFlma1k0Z29iK3I2SUhQL3lmY1FRdXU5cjZENmQxMkgvTTZHcWJWWEtMeW1MUVJxODdCSzdaektsSzhZK0I1Y2N1Nkd5bHRlZDVvQWM4U2FFUnpIbE1ieVAra0cwRThPNzNXSXEvLzZRWEV0cGlSNDBzSmtydElOeUlTQ1NyOGZhb2k4MEpsUXpnQWVaOC9XenBJUG9OS2pEdnhZUjJ4TkhmM0dwcWF1bDN1NUVZeXI3ZGdNRXE3Y1NrK3BKMEl4eDVBMkxSTEtyWE8yUkpuRTNNWFVYYVFHRGVlYkFiUkFJSm51d0pQWjV5U0dnZlJ4aFpsRE9rOWtKZ3BYcmVGU2JaMjQrL3JyNzE0SnJhSVpGYTBIaVBUdnZPSGZiZ0l5S2JSYzZ6Z2hIUTlKSE1kUDNIWDl6NjRjaDh0U05tQVNCNEZCaHNSaHdENDIwVVFpelJPVG5xOXE4VHNaK3RVbmJ2aXdyZU1aclUwa3lIeGJKbyttdjhpUVByWHphZDlGU016ZFNlMWJUQjNmdFBRK2ViWE5Cc0ZsNFRWYnJOaGY5cmJQWGJmenJGMkZtcW1JOTF2YXYxZmhrODJDRDBTbXdjeE5ZME1OYWVpNnE2QXR2ZVNMSXpGM2g1MmQ4TWhkNklML1JpcXNvOU9YRjNvb3UvYzNRcjVoMTVUeE5ycTZvbHVFcFFOeTN6V3hiTWVFVFBHQXpCSStKcFdmRXI1WmFNY2d5Smh2eXVPUllxQTFaaWRpcWk4VUNIdDNKZDdYQ0hOVU9Qemk1ekhTQklNWWdqSHJKOEZ6NnFkWjJtMkdQSGVlemliYll1cTB1K3lYWGpXeUFSSkxaelNKUm10dm1ZM3NFclJqWEJpSWpHOVlWOWdHWnFVRGxkMFc4OTNITTNLbU8wNE14bWdpd3hUVE1HWFEwWWhHUnV5VGNnK3BrUnMxcjk3c1JyRTh2MXR0eDdvbE1kZXg3a0pXR0gvYjlEa3BBdzlUT2xEWFRCS3pWbHpyYTh6MWcyRTZLTHh1OGhzNEVqMG40cFVYT1orQVo1bXdyekZtSWpxaUx5S3BOQ3E0SFRpaTE0aHNpYWJTUjBwRXh2Mmh4bEVkUFI4SDdRcWJPaUJSQngxRzJXMUxqRG9iSGd6L081YUIwOTN0N1haL3UzemJhdjh3dHRjTEM0VHQxanNPMU8rdkp0SFBGM2FBckxkaVZ5ZTh6OVBUZmZ0akVEYjRoTmwxdGxPSk00elZoTTB1QnRwNHQ2VTcydDhXeVlUb2IxSHRCdzl3VUhxK3FRaGpCM0ZQeDQvN01UeE9zK3VmQXEzM3g5WWx1NzNOZTd0SStTRTgvUEozelNCNC9TZUVlUDdpUlJwRXNtNXp1NS9IZGZ5dVZSZnE5bEdVTG5nWHBucU16aVJhZE9wd3o0WHBzTzllSm5jUHpJZGUwaGZsMFc0NnNDK3FlMmowWHcrdWhLMjdmbmxyRHlRdVROTjkrWWUvV244VzU4TGM4WUh1WllvZHhhWTEwS0VEN2I2a2RaZjdRNmZHbzZSMHVpajNlVVNTVHUrWE5wWE9INi9xOTc0eVBPN3FsOGloYmZlTlpzcTNudm1UbEFrT3lBMDRNT0RBZ0FNRERndzRNT0RBZ0FNRERndzRNT0RBZ0FPWEtBZHVlM0JGWFBWNU9maWJ2RnNZKzZ2cnhGWHVqMjVjM1d1dUZQSVI1cUgramgwY29VRXV5Z0g2MkR5bDU2RmkxSHNzL0RWNHpQMDRhcUxSYk9idkpmeGFQUDl3SmtwdFVONGJCOGJ3NnNUVkgvK043MzZLL21xbHpwL1ArSFBSK3Z4aWtQMHpJVjd1ZDFFVFA5Y01NcGVKK2V6dXB4SitxMEVwQVFmd2x5ZjBSME5JdnlabXAvZ1RIRjhUK24zT3I0aFdTV0xvbnp2RXo4amNyV2RQNzhNdU9PL3AwT1V6VmRGYTAzZGQvMTdOdmJ3Yy9MZllLZWtLLzkyRExMMElSUW52N3h5a28yYzFxRXY3OTh2c0pTaDZRM2JlM0E0ZUExb3dlYnlhdzQ0UFQ5dEhsYmJkMjQ0R2RYRGRDd2NnZ1hlNDlyQWltNlpVNTNxcklQOEhTMWRWckgwWlBTQVA1NXN4WDFyWG9ZZXV1SnZTRFhiWW1iejM4QnRtdTFrRmVCVzNaTkh3QUtQenVLYkVzcWtZTzhDUCtab3hIdGlyOW1laGtRelA2VU1RcTJ5OCtHYUNLVlc4Wi9yeDNyQnRzODNlaFRuWUQydVplem1RMTNzaEI1WE9McG9CK29zakdMS0xBUHd2R1NSYzhmVDd2Q25XcmNqd253ZmZOOURCdFRjTzNJclBJWHk0NmJmQmF2Q2k2b3g5ODczcVBWNU5iOTQvWVpxRzhnTWJxbFJZTnREQnRTY080TlV6L3BhOGFsdjAxd0QrZmZSeFZZR1BsOHg1NUF0Q083ZjQ0Qm9YeDRLSE5TZ2s1VUJSdkxrTkZTcklNRm5YVmM2b1RDUHF3VmF0eVVjalI4aitwWm9ERFhJSk9EQWE1d09OQ09ja0tScUZlWFUxMzg2M2xJdjJOVnZFSTdNV0hGb3JaRUdEVEFJT3JOdlFqU0hYbWIra3dKVk5lVVUwY296aElRdFVEY0RuVkp5OStYVWZhMUF5SFBqc2p0eDJmZFYxclY5b0V1eXJLNjJmZDFOM09xcVZDQVdNZGRFRUFXQTd0dVFGOGNlbXpOZ2ZpRU5Ud3p2NE95VUxIMlJpT1hEbjJUenRhZHdpM3ZRQnFaYStJbDU0T1JQQmVKUzlSQVRPYlBRZGovc1Y4V3JrclU3NWNWVWozRHkrSy9XeDJFRU1nSVlEK1kwaE9LbVR0Qk5lUjJRM0tqNU5IN1RhTU5YcnpCc3lNUG9UeW1PMndEUDQrRm4wU1cvSXdHQ1VLWGk1NWlPbU9MaTJjMkQ2SElVR2kxVjY2K0VJTnB2eTcwZG1oTVVLMm9IMVdoYmJWSkt1aHBzYlhUYWhOZVh5RHpBaGtELzRJWS9Zb01BNE1Jd2dMUlQzeVRtTjc5ME15eWUxajlxZ2JpSVNSYWlXWVRUcU1BVGhjVVdYRFRjekVLTk03WEdNSVhEWXI5dnp0RHJDT2VMRGhHZ1ZGeWd6S3JCbVpCcG12cWtHU1V2ZTRmVlVxS001aXlZekNEYmNzL2hERlMyUENKTGY1RENYNmhzQlBCNzEyVURFMzhwaE9tb2RwNWs0dnNPYmpWb0l6Y0thOThZekFYMzFOZjFaSlkrb1gzYVlKZURkZTZWSnUzektRSUIxVUYxSVJ5eTdHMmFaOEViWXNJckU1S2EyMnFiRnNQTjd4dFRTOVZ2dmxnS1JpNUREQjNuaVFBYU9rOTFtQXBzM0pGdjB0OGFSWDQvak8xZ2NaK0NCRG1Va0NiaWZwVGIxSlQrQnE4VHUwQVk1eVlIczgrUTNySnV5TUdLY29DVTcrK3R4Zk1kWHZiOGZ6NytRN3hKS2xGcGIvQjRFVDJFZmZZNm5jNWloTThad2J4dUhLbWRQa0tCOWVGTG5IZkNmUEFYa21HZU1qNFB3UDBXMTBMeTFUUlkweUJnT2xFMnNZS1ZRdE96T2MyRWd2MFdOc0RxT21jYnFPcTJlMTRHUEZySHhzRXZSUUFRdElFKy8vYURrT0ZBenFzZEtJYlR1YXJFbHo4ak56NHRsSzlpT2lEaU9hSjFXTVF2TlVBZnFzczcvaTRIaEs4VURjVGhtUkhONXc3R0tsZ0oyQ05jMFVxenRnTW1QS0t0dExaNUNkSFUwcktzMXdad0NkQkFkeEtCc09HQWVpMEw4c1NGaGNMVVdkZVc2ZlJUSFlPT0t5UjBSaDRvZWFiTXJFbEZVakRrS2hwblN5clJaZkViOWtHZXg3VGNyV1lEam9aTE1zTy9rbGlPMlFOYWpoZStvWmtWVFZnUTU0NXVwSXZuUTh6ckwvMXM1eXlKMVhUMjRhQTRnRmxkckFVOE1LaEQ3dU51SVhTZWNYOUVqdjJHemhwWU1MWTNkMFBFK2ltVW13YUZPY1F2djVKRG1qeHJOWVdQeEl0bjIwWG5peDZqYmFtZnNXWS9vcFBWbFhZbURFTG5TZm5qbFdRVEpoTzRaeEJyOXk0Uk9SNk91Z0trWVhPRjE2ajIrR2FQbnBXTzF2VXk4R1l0bEhEemRFdFhxNUQ0NkFSczlEK0R0NG9XVk9WenZZSGg1Wmp1VzRqWW1nVDlJK090S0V4azB0QXBCcklBcFhsK1F6TWtiUGNSWkJZeDVWbTQ4YWd0VkdVRGk0SHdTN2ZDY09sNzgwSW03d05XSXdUYzRneXY5dVl2VzZuWHRMeWtiRWpZbGM3YTlkV0Q0VmJTN0tJQk1XTGM0Q0U2UjVodWxoVkJvQm5jSzk5UWkxbzJ5VUxMQkN3eWh3VFhLZ2FyUlJ3VTk1WS9RUkI3U1c3bWpUdnV6aG5hekViQk1rYWtoY0gwMVdKb0RlSDBEUHNLcWJRUG5lTjRVY3JFaU5yV0gvQm9hcGdteEtWa3hURlAvbEhHRUN1b3NKTUtrcWpFNFFYRHZUcE5WTmlETDhnWUE1WmNVK1A4L3c4aWJmL256WHBSaVRRZFpjQURCMzZ4a0JDYjJsc3hNa1RqeXhGSktkMGIvdWxKQ01kbXZYYVJjNWkrMUVDVVkzenl1aURkS2NjRG41V1puUnJ4VFBFKzJtSzU0OHRQdEJoZkZBUVIva2t0dUl5a1RQaExjb1hXVi9LYjBaZ3l2YnNHZkEvN3QvMzd6NllYb3k3R3dQSlhuQnBsWEZ6VDNkVnZFazdlS2h6Lys5ZGY5UjhXOUd4VkQ5N0NESmt3TTRmNm9weUd1WUN5N1hiUStFOE9rMzhUK0xsTHIwOUU2K2srN0U2aFI4ZnpVcXFxdnZTVUlmcEFhdEwvY0hDVnd1TXZ2ZnIrNi84emxtbk5CNXFhZDl6R2UxSVY0ZG9tVmRYYjZ3ZXZFaVh0aUtzWStnWW8vYXNERlFwSm1IZGZQTnZIejZnK0VPemZNSWpOSS9YTWdXOFdVVmh2dDdtVzBydVJtMUQ1V2NhTXI1Z0NoTnc1a1gwbzZScWF0eEMxbnBJbWZkTkZHNHBZRHhHNGNlUFY3MUJOU0xxenIxZ0ovVmsydWN0VTlaTlcxeFFCaEh6bUE1eUErOWwyNUdibVBuUXhJSitVQXRoa3BiU2JGSCtEdEt3ZXdqNEtrM0t0OTdXaEFQQWtIRUY0aW1hMldKQzBHT1B2SkFaSkdxN1NmUFF4bzk4Q0JITVJCYjQwTTBvSGd3Tmk3ZHo1MElBYVM3aUQrSDdqc2ZTVVZzUEREQUFBQUFFbEZUa1N1UW1DQyIKfQo="/>
    </extobj>
  </extobjs>
</s:customData>
</file>

<file path=customXml/itemProps1.xml><?xml version="1.0" encoding="utf-8"?>
<ds:datastoreItem xmlns:ds="http://schemas.openxmlformats.org/officeDocument/2006/customXml" ds:itemID="{20A94869-2925-41BA-9D30-16FE3888F0D4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1019</Words>
  <Application>Microsoft Office PowerPoint</Application>
  <PresentationFormat>宽屏</PresentationFormat>
  <Paragraphs>126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Courier New Regular</vt:lpstr>
      <vt:lpstr>苹方-简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Ning An</cp:lastModifiedBy>
  <cp:revision>68</cp:revision>
  <dcterms:created xsi:type="dcterms:W3CDTF">2025-12-26T05:09:13Z</dcterms:created>
  <dcterms:modified xsi:type="dcterms:W3CDTF">2025-12-31T10:53:43Z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59D6DD4D8325576F4A5BCB68C08192B9_42</vt:lpwstr>
  </property>
  <property fmtid="{D5CDD505-2E9C-101B-9397-08002B2CF9AE}" pid="3" name="KSOProductBuildVer">
    <vt:lpwstr>2052-12.1.24031.24031</vt:lpwstr>
  </property>
</Properties>
</file>